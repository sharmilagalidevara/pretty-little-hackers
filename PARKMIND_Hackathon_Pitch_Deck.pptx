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68" r:id="rId3"/>
    <p:sldId id="269" r:id="rId4"/>
    <p:sldId id="270" r:id="rId5"/>
    <p:sldId id="271" r:id="rId6"/>
    <p:sldId id="272" r:id="rId7"/>
    <p:sldId id="280" r:id="rId8"/>
    <p:sldId id="259" r:id="rId9"/>
    <p:sldId id="261" r:id="rId10"/>
    <p:sldId id="264" r:id="rId11"/>
    <p:sldId id="276" r:id="rId12"/>
    <p:sldId id="278" r:id="rId13"/>
    <p:sldId id="282" r:id="rId14"/>
    <p:sldId id="281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4" autoAdjust="0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5682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“PARKMIND is our autonomous parking operations engine. It is designed for real-world pressure: growing facilities, traffic bottlenecks, equipment failures, wrong parking, payment risk and security issues. Our goal is simple: keep the entire facility moving, even when the environment changes.”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04506-2029-9F9A-A04E-BFBB03627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B567B0-65CD-1715-5BCE-8C9D3E0893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6AD5FF-558E-6122-1162-CAD1C6D80B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the parking layout to show why Level 2 is fundamentally a coordination problem. We have more zones, more entry/exit paths, component failures, safety automation and role-specific actions. The design answer is to make the controller explicit: verify event -&gt; update state -&gt; apply a rule -&gt; issue a command -&gt; wait for confirmation.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B94942-D320-669F-037F-CA21D70DD0E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670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“A failed gate should be a localized problem, not a facility-wide shutdown. PARKMIND detects the failure, removes that path from active routing, and sends traffic to a healthy alternative so the operation continues while maintenance catches up.”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“We do not want maintenance to start after something breaks during peak demand. PARKMIND tracks component use and health, surfaces what needs attention, and helps schedule service in safer, quieter operating windows.”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“Revenue assurance is about more than calculating a price. PARKMIND verifies that the right vehicle is paying the right amount, avoids duplicate charging, and keeps the exit release tied to a successful payment state. That protects both revenue and customer trust.”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Safety is implemented as an interlock. CO events are authoritative and can immediately turn on healthy exhaust fans; turning them off during danger is blocked. Lighting follows simulator time and activity, with a default configurable day window of 06:00–18:00.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important distinction is between a maintenance signal and a repair decision. The implementation only uses simulator-backed life, usage, runtime or alarm information; it does not manufacture its own health percentage. Before a command is sent, the system checks whether the component can safely be taken offline.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RKMIND_MASTER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22DDF6"/>
          </a:solidFill>
          <a:ln w="12700">
            <a:solidFill>
              <a:srgbClr val="22DDF6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" name="Text 1"/>
          <p:cNvSpPr/>
          <p:nvPr/>
        </p:nvSpPr>
        <p:spPr>
          <a:xfrm>
            <a:off x="502920" y="6528816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 kern="0" spc="110" dirty="0">
                <a:solidFill>
                  <a:srgbClr val="76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OPERATIONS / PARKMIND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9308592" y="6528816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50" b="1" kern="0" spc="110" dirty="0">
                <a:solidFill>
                  <a:srgbClr val="7690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PRETTY LITTLE HACKERS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D738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MASTER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92240"/>
            <a:ext cx="11183112" cy="0"/>
          </a:xfrm>
          <a:prstGeom prst="line">
            <a:avLst/>
          </a:prstGeom>
          <a:noFill/>
          <a:ln w="12700">
            <a:solidFill>
              <a:srgbClr val="20324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" name="Text 1"/>
          <p:cNvSpPr/>
          <p:nvPr/>
        </p:nvSpPr>
        <p:spPr>
          <a:xfrm>
            <a:off x="548640" y="652881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B7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PARKMIND · LEVEL 2 · Solution deck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7498080" y="6528816"/>
            <a:ext cx="4114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6B7C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Resilient operations • safety • recovery • control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B7C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7840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D738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11480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40" dirty="0">
                <a:solidFill>
                  <a:srgbClr val="22D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PRETTY LITTLE HACKERS</a:t>
            </a:r>
            <a:endParaRPr lang="en-US" sz="800" dirty="0"/>
          </a:p>
        </p:txBody>
      </p:sp>
      <p:sp>
        <p:nvSpPr>
          <p:cNvPr id="3" name="Shape 1"/>
          <p:cNvSpPr/>
          <p:nvPr/>
        </p:nvSpPr>
        <p:spPr>
          <a:xfrm>
            <a:off x="566928" y="749808"/>
            <a:ext cx="1463040" cy="256032"/>
          </a:xfrm>
          <a:prstGeom prst="roundRect">
            <a:avLst>
              <a:gd name="adj" fmla="val 50000"/>
            </a:avLst>
          </a:prstGeom>
          <a:solidFill>
            <a:srgbClr val="F4C75D"/>
          </a:solidFill>
          <a:ln w="12700">
            <a:solidFill>
              <a:srgbClr val="F4C7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" name="Text 2"/>
          <p:cNvSpPr/>
          <p:nvPr/>
        </p:nvSpPr>
        <p:spPr>
          <a:xfrm>
            <a:off x="640080" y="758952"/>
            <a:ext cx="1316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70" dirty="0">
                <a:solidFill>
                  <a:srgbClr val="06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HACKATHON 2026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66928" y="1152144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PARKMIND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566928" y="176479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Parking</a:t>
            </a:r>
            <a:endParaRPr lang="en-US" sz="2200" dirty="0"/>
          </a:p>
          <a:p>
            <a:pPr marL="0" indent="0" algn="l">
              <a:buNone/>
            </a:pPr>
            <a:r>
              <a:rPr lang="en-US" sz="220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Airport Scale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66928" y="2724912"/>
            <a:ext cx="4754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2D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don’t just park cars.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D2D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keep the whole facility moving.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66928" y="3675888"/>
            <a:ext cx="4206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88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Sharmila  •  Jushita  •  Pravir  •  Ram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66928" y="4169664"/>
            <a:ext cx="1234440" cy="758952"/>
          </a:xfrm>
          <a:prstGeom prst="roundRect">
            <a:avLst>
              <a:gd name="adj" fmla="val 12048"/>
            </a:avLst>
          </a:prstGeom>
          <a:solidFill>
            <a:srgbClr val="0D2238"/>
          </a:solidFill>
          <a:ln w="12700">
            <a:solidFill>
              <a:srgbClr val="16365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694944" y="4261104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22DDF6"/>
                </a:solidFill>
                <a:latin typeface="Arial" pitchFamily="34" charset="0"/>
                <a:cs typeface="Arial" pitchFamily="34" charset="-120"/>
              </a:rPr>
              <a:t>30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94944" y="4590288"/>
            <a:ext cx="9784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50" dirty="0">
                <a:solidFill>
                  <a:srgbClr val="88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1901952" y="4169664"/>
            <a:ext cx="1234440" cy="758952"/>
          </a:xfrm>
          <a:prstGeom prst="roundRect">
            <a:avLst>
              <a:gd name="adj" fmla="val 12048"/>
            </a:avLst>
          </a:prstGeom>
          <a:solidFill>
            <a:srgbClr val="0D2238"/>
          </a:solidFill>
          <a:ln w="12700">
            <a:solidFill>
              <a:srgbClr val="16365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2029968" y="4261104"/>
            <a:ext cx="978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7D6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029968" y="4590288"/>
            <a:ext cx="97840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50" dirty="0">
                <a:solidFill>
                  <a:srgbClr val="88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ZONES</a:t>
            </a:r>
            <a:endParaRPr lang="en-US" sz="720" dirty="0"/>
          </a:p>
        </p:txBody>
      </p:sp>
      <p:sp>
        <p:nvSpPr>
          <p:cNvPr id="15" name="Shape 13"/>
          <p:cNvSpPr/>
          <p:nvPr/>
        </p:nvSpPr>
        <p:spPr>
          <a:xfrm>
            <a:off x="3236976" y="4169664"/>
            <a:ext cx="1417320" cy="758952"/>
          </a:xfrm>
          <a:prstGeom prst="roundRect">
            <a:avLst>
              <a:gd name="adj" fmla="val 12048"/>
            </a:avLst>
          </a:prstGeom>
          <a:solidFill>
            <a:srgbClr val="0D2238"/>
          </a:solidFill>
          <a:ln w="12700">
            <a:solidFill>
              <a:srgbClr val="16365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3364992" y="4261104"/>
            <a:ext cx="11612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4C7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250+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364992" y="4590288"/>
            <a:ext cx="116128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b="1" kern="0" spc="50" dirty="0">
                <a:solidFill>
                  <a:srgbClr val="88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BAYS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4901184" y="566928"/>
            <a:ext cx="7221424" cy="5440680"/>
          </a:xfrm>
          <a:prstGeom prst="roundRect">
            <a:avLst>
              <a:gd name="adj" fmla="val 2017"/>
            </a:avLst>
          </a:prstGeom>
          <a:solidFill>
            <a:srgbClr val="0B1A2D"/>
          </a:solidFill>
          <a:ln w="12700">
            <a:solidFill>
              <a:srgbClr val="16365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6035040" y="804672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kern="0" spc="100" dirty="0">
                <a:solidFill>
                  <a:srgbClr val="88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ENGINE  /  THREE OPERATING ENVIRONMENTS</a:t>
            </a:r>
            <a:endParaRPr lang="en-US" sz="750" dirty="0"/>
          </a:p>
        </p:txBody>
      </p:sp>
      <p:sp>
        <p:nvSpPr>
          <p:cNvPr id="23" name="Shape 18"/>
          <p:cNvSpPr/>
          <p:nvPr/>
        </p:nvSpPr>
        <p:spPr>
          <a:xfrm>
            <a:off x="5797296" y="3355848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22DDF6"/>
          </a:solidFill>
          <a:ln w="12700">
            <a:solidFill>
              <a:srgbClr val="22DD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Text 19"/>
          <p:cNvSpPr/>
          <p:nvPr/>
        </p:nvSpPr>
        <p:spPr>
          <a:xfrm>
            <a:off x="5870448" y="336499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70" dirty="0">
                <a:solidFill>
                  <a:srgbClr val="06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SPACES</a:t>
            </a:r>
            <a:endParaRPr lang="en-US" sz="750" dirty="0"/>
          </a:p>
        </p:txBody>
      </p:sp>
      <p:sp>
        <p:nvSpPr>
          <p:cNvPr id="25" name="Shape 20"/>
          <p:cNvSpPr/>
          <p:nvPr/>
        </p:nvSpPr>
        <p:spPr>
          <a:xfrm>
            <a:off x="8037576" y="3355848"/>
            <a:ext cx="1170432" cy="256032"/>
          </a:xfrm>
          <a:prstGeom prst="roundRect">
            <a:avLst>
              <a:gd name="adj" fmla="val 50000"/>
            </a:avLst>
          </a:prstGeom>
          <a:solidFill>
            <a:srgbClr val="37D6AA"/>
          </a:solidFill>
          <a:ln w="12700">
            <a:solidFill>
              <a:srgbClr val="37D6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Text 21"/>
          <p:cNvSpPr/>
          <p:nvPr/>
        </p:nvSpPr>
        <p:spPr>
          <a:xfrm>
            <a:off x="8110728" y="3364992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70" dirty="0">
                <a:solidFill>
                  <a:srgbClr val="06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ZONES</a:t>
            </a:r>
            <a:endParaRPr lang="en-US" sz="750" dirty="0"/>
          </a:p>
        </p:txBody>
      </p:sp>
      <p:sp>
        <p:nvSpPr>
          <p:cNvPr id="27" name="Shape 22"/>
          <p:cNvSpPr/>
          <p:nvPr/>
        </p:nvSpPr>
        <p:spPr>
          <a:xfrm>
            <a:off x="10222992" y="3355848"/>
            <a:ext cx="1298448" cy="256032"/>
          </a:xfrm>
          <a:prstGeom prst="roundRect">
            <a:avLst>
              <a:gd name="adj" fmla="val 50000"/>
            </a:avLst>
          </a:prstGeom>
          <a:solidFill>
            <a:srgbClr val="F4C75D"/>
          </a:solidFill>
          <a:ln w="12700">
            <a:solidFill>
              <a:srgbClr val="F4C7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Text 23"/>
          <p:cNvSpPr/>
          <p:nvPr/>
        </p:nvSpPr>
        <p:spPr>
          <a:xfrm>
            <a:off x="10296144" y="3364992"/>
            <a:ext cx="1152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70" dirty="0">
                <a:solidFill>
                  <a:srgbClr val="06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250+ BAYS</a:t>
            </a:r>
            <a:endParaRPr lang="en-US" sz="750" dirty="0"/>
          </a:p>
        </p:txBody>
      </p:sp>
      <p:sp>
        <p:nvSpPr>
          <p:cNvPr id="29" name="Shape 24"/>
          <p:cNvSpPr/>
          <p:nvPr/>
        </p:nvSpPr>
        <p:spPr>
          <a:xfrm>
            <a:off x="6199632" y="3867912"/>
            <a:ext cx="4882896" cy="0"/>
          </a:xfrm>
          <a:prstGeom prst="line">
            <a:avLst/>
          </a:prstGeom>
          <a:noFill/>
          <a:ln w="12700">
            <a:solidFill>
              <a:srgbClr val="25466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SG"/>
          </a:p>
        </p:txBody>
      </p:sp>
      <p:sp>
        <p:nvSpPr>
          <p:cNvPr id="30" name="Text 25"/>
          <p:cNvSpPr/>
          <p:nvPr/>
        </p:nvSpPr>
        <p:spPr>
          <a:xfrm>
            <a:off x="6089904" y="415137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00" b="1" kern="0" spc="100" dirty="0">
                <a:solidFill>
                  <a:srgbClr val="22D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DIFFERENCE</a:t>
            </a:r>
            <a:endParaRPr lang="en-US" sz="700" dirty="0"/>
          </a:p>
        </p:txBody>
      </p:sp>
      <p:sp>
        <p:nvSpPr>
          <p:cNvPr id="31" name="Text 26"/>
          <p:cNvSpPr/>
          <p:nvPr/>
        </p:nvSpPr>
        <p:spPr>
          <a:xfrm>
            <a:off x="6089904" y="4443984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the moments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parking stops behaving perfectly.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8503920" y="4416552"/>
            <a:ext cx="1078992" cy="256032"/>
          </a:xfrm>
          <a:prstGeom prst="roundRect">
            <a:avLst>
              <a:gd name="adj" fmla="val 50000"/>
            </a:avLst>
          </a:prstGeom>
          <a:solidFill>
            <a:srgbClr val="0D2238"/>
          </a:solidFill>
          <a:ln w="12700">
            <a:solidFill>
              <a:srgbClr val="0D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3" name="Text 28"/>
          <p:cNvSpPr/>
          <p:nvPr/>
        </p:nvSpPr>
        <p:spPr>
          <a:xfrm>
            <a:off x="8577072" y="442569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70" dirty="0">
                <a:solidFill>
                  <a:srgbClr val="D2D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</a:t>
            </a:r>
            <a:endParaRPr lang="en-US" sz="750" dirty="0"/>
          </a:p>
        </p:txBody>
      </p:sp>
      <p:sp>
        <p:nvSpPr>
          <p:cNvPr id="34" name="Shape 29"/>
          <p:cNvSpPr/>
          <p:nvPr/>
        </p:nvSpPr>
        <p:spPr>
          <a:xfrm>
            <a:off x="9738360" y="4416552"/>
            <a:ext cx="1078992" cy="256032"/>
          </a:xfrm>
          <a:prstGeom prst="roundRect">
            <a:avLst>
              <a:gd name="adj" fmla="val 50000"/>
            </a:avLst>
          </a:prstGeom>
          <a:solidFill>
            <a:srgbClr val="0D2238"/>
          </a:solidFill>
          <a:ln w="12700">
            <a:solidFill>
              <a:srgbClr val="0D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Text 30"/>
          <p:cNvSpPr/>
          <p:nvPr/>
        </p:nvSpPr>
        <p:spPr>
          <a:xfrm>
            <a:off x="9811512" y="4425696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70" dirty="0">
                <a:solidFill>
                  <a:srgbClr val="D2D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Failures</a:t>
            </a:r>
            <a:endParaRPr lang="en-US" sz="750" dirty="0"/>
          </a:p>
        </p:txBody>
      </p:sp>
      <p:sp>
        <p:nvSpPr>
          <p:cNvPr id="36" name="Shape 31"/>
          <p:cNvSpPr/>
          <p:nvPr/>
        </p:nvSpPr>
        <p:spPr>
          <a:xfrm>
            <a:off x="8503920" y="4809744"/>
            <a:ext cx="1078992" cy="256032"/>
          </a:xfrm>
          <a:prstGeom prst="roundRect">
            <a:avLst>
              <a:gd name="adj" fmla="val 50000"/>
            </a:avLst>
          </a:prstGeom>
          <a:solidFill>
            <a:srgbClr val="0D2238"/>
          </a:solidFill>
          <a:ln w="12700">
            <a:solidFill>
              <a:srgbClr val="0D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7" name="Text 32"/>
          <p:cNvSpPr/>
          <p:nvPr/>
        </p:nvSpPr>
        <p:spPr>
          <a:xfrm>
            <a:off x="8577072" y="481888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70" dirty="0">
                <a:solidFill>
                  <a:srgbClr val="D2D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spots</a:t>
            </a:r>
            <a:endParaRPr lang="en-US" sz="750" dirty="0"/>
          </a:p>
        </p:txBody>
      </p:sp>
      <p:sp>
        <p:nvSpPr>
          <p:cNvPr id="38" name="Shape 33"/>
          <p:cNvSpPr/>
          <p:nvPr/>
        </p:nvSpPr>
        <p:spPr>
          <a:xfrm>
            <a:off x="9738360" y="4809744"/>
            <a:ext cx="1078992" cy="256032"/>
          </a:xfrm>
          <a:prstGeom prst="roundRect">
            <a:avLst>
              <a:gd name="adj" fmla="val 50000"/>
            </a:avLst>
          </a:prstGeom>
          <a:solidFill>
            <a:srgbClr val="0D2238"/>
          </a:solidFill>
          <a:ln w="12700">
            <a:solidFill>
              <a:srgbClr val="0D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9" name="Text 34"/>
          <p:cNvSpPr/>
          <p:nvPr/>
        </p:nvSpPr>
        <p:spPr>
          <a:xfrm>
            <a:off x="9811512" y="4818888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70" dirty="0">
                <a:solidFill>
                  <a:srgbClr val="D2D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750" dirty="0"/>
          </a:p>
        </p:txBody>
      </p:sp>
      <p:sp>
        <p:nvSpPr>
          <p:cNvPr id="40" name="Shape 35"/>
          <p:cNvSpPr/>
          <p:nvPr/>
        </p:nvSpPr>
        <p:spPr>
          <a:xfrm>
            <a:off x="8503920" y="5202936"/>
            <a:ext cx="1078992" cy="256032"/>
          </a:xfrm>
          <a:prstGeom prst="roundRect">
            <a:avLst>
              <a:gd name="adj" fmla="val 50000"/>
            </a:avLst>
          </a:prstGeom>
          <a:solidFill>
            <a:srgbClr val="FF6472"/>
          </a:solidFill>
          <a:ln w="12700">
            <a:solidFill>
              <a:srgbClr val="FF64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1" name="Text 36"/>
          <p:cNvSpPr/>
          <p:nvPr/>
        </p:nvSpPr>
        <p:spPr>
          <a:xfrm>
            <a:off x="8577072" y="5212080"/>
            <a:ext cx="932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70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750" dirty="0"/>
          </a:p>
        </p:txBody>
      </p:sp>
      <p:sp>
        <p:nvSpPr>
          <p:cNvPr id="42" name="Shape 37"/>
          <p:cNvSpPr/>
          <p:nvPr/>
        </p:nvSpPr>
        <p:spPr>
          <a:xfrm>
            <a:off x="4892040" y="6163056"/>
            <a:ext cx="2331720" cy="256032"/>
          </a:xfrm>
          <a:prstGeom prst="roundRect">
            <a:avLst>
              <a:gd name="adj" fmla="val 50000"/>
            </a:avLst>
          </a:prstGeom>
          <a:solidFill>
            <a:srgbClr val="22DDF6"/>
          </a:solidFill>
          <a:ln w="12700">
            <a:solidFill>
              <a:srgbClr val="22DD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3" name="Text 38"/>
          <p:cNvSpPr/>
          <p:nvPr/>
        </p:nvSpPr>
        <p:spPr>
          <a:xfrm>
            <a:off x="4965192" y="6172200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70" dirty="0">
                <a:solidFill>
                  <a:srgbClr val="06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OPERATIONS</a:t>
            </a:r>
            <a:endParaRPr lang="en-US" sz="75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D738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367365E3-DC5B-0BB6-41B1-9B5CE96E06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833" t="11558" r="5409"/>
          <a:stretch>
            <a:fillRect/>
          </a:stretch>
        </p:blipFill>
        <p:spPr>
          <a:xfrm>
            <a:off x="5106924" y="1493340"/>
            <a:ext cx="2487169" cy="1469316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021D01C3-92C4-F675-B658-162F393B4DA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990" t="12437" r="30230"/>
          <a:stretch>
            <a:fillRect/>
          </a:stretch>
        </p:blipFill>
        <p:spPr>
          <a:xfrm>
            <a:off x="7909561" y="1164491"/>
            <a:ext cx="1380743" cy="2072485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0390F2D0-CF7F-E00A-DABE-9EE135F7A5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52536" y="1577771"/>
            <a:ext cx="2570632" cy="1348309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15F57517-C0B5-761A-646C-E7D51DC87FD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5725" t="18250" r="25075" b="18186"/>
          <a:stretch>
            <a:fillRect/>
          </a:stretch>
        </p:blipFill>
        <p:spPr>
          <a:xfrm>
            <a:off x="10206042" y="130928"/>
            <a:ext cx="1832571" cy="12913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3767DAC-8956-44D6-D7E8-CE4FF3C8D3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7" y="131514"/>
            <a:ext cx="12154525" cy="603916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8E0F031-02B0-0D8B-8EF9-DE10DF59EEBB}"/>
              </a:ext>
            </a:extLst>
          </p:cNvPr>
          <p:cNvSpPr txBox="1"/>
          <p:nvPr/>
        </p:nvSpPr>
        <p:spPr>
          <a:xfrm>
            <a:off x="255639" y="687326"/>
            <a:ext cx="21630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b="1" dirty="0">
                <a:solidFill>
                  <a:schemeClr val="bg1"/>
                </a:solidFill>
              </a:rPr>
              <a:t>ADMIN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0B1E90-6F33-2C5B-F830-1CF36C4BFA8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725" t="18250" r="25075" b="18186"/>
          <a:stretch>
            <a:fillRect/>
          </a:stretch>
        </p:blipFill>
        <p:spPr>
          <a:xfrm>
            <a:off x="10206042" y="130928"/>
            <a:ext cx="1832571" cy="1291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257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6FA958-8E37-70ED-AC33-9245270A88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82" y="977774"/>
            <a:ext cx="5886753" cy="490245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4D87126-5576-D22D-3CE9-59A8DA680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4765" y="831337"/>
            <a:ext cx="5886753" cy="5410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978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D4EECAB-55C0-0421-EF83-5B54A4DFC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28" y="1462515"/>
            <a:ext cx="4202545" cy="362148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32A6E15-A9E9-D78D-0B64-CDA47389AE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127" y="1607128"/>
            <a:ext cx="7403615" cy="3384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041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4FAC3F-80B6-A72E-587D-83DF586C88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41" y="1703957"/>
            <a:ext cx="7460706" cy="345008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B95E2A-912B-6058-E87D-D9BFC4F78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8317" y="1301211"/>
            <a:ext cx="4523683" cy="425557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49ECEA2-7D82-04EC-08A5-1E33BE37D5EF}"/>
              </a:ext>
            </a:extLst>
          </p:cNvPr>
          <p:cNvSpPr txBox="1"/>
          <p:nvPr/>
        </p:nvSpPr>
        <p:spPr>
          <a:xfrm>
            <a:off x="255639" y="687326"/>
            <a:ext cx="29791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b="1" dirty="0">
                <a:solidFill>
                  <a:schemeClr val="bg1"/>
                </a:solidFill>
              </a:rPr>
              <a:t>OPERATOR</a:t>
            </a:r>
          </a:p>
        </p:txBody>
      </p:sp>
    </p:spTree>
    <p:extLst>
      <p:ext uri="{BB962C8B-B14F-4D97-AF65-F5344CB8AC3E}">
        <p14:creationId xmlns:p14="http://schemas.microsoft.com/office/powerpoint/2010/main" val="7856833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0E5ED27-D237-5541-E3C1-83A1D47CA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127" y="812492"/>
            <a:ext cx="5815414" cy="229474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E43116-A0C4-4261-03B6-79F42ED3BD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127" y="3567953"/>
            <a:ext cx="5645855" cy="26043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45BE5B6-260D-6B92-3D3A-30FFC41F0C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8864" y="1085729"/>
            <a:ext cx="5797848" cy="468654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61A491E-219D-A6DD-99DC-2823F0F04DB5}"/>
              </a:ext>
            </a:extLst>
          </p:cNvPr>
          <p:cNvSpPr txBox="1"/>
          <p:nvPr/>
        </p:nvSpPr>
        <p:spPr>
          <a:xfrm>
            <a:off x="397127" y="165229"/>
            <a:ext cx="3840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3600" b="1" dirty="0">
                <a:solidFill>
                  <a:schemeClr val="bg1"/>
                </a:solidFill>
              </a:rPr>
              <a:t>MAINTENANCE</a:t>
            </a:r>
          </a:p>
        </p:txBody>
      </p:sp>
    </p:spTree>
    <p:extLst>
      <p:ext uri="{BB962C8B-B14F-4D97-AF65-F5344CB8AC3E}">
        <p14:creationId xmlns:p14="http://schemas.microsoft.com/office/powerpoint/2010/main" val="27041761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501AF-2818-32A5-1B21-995F2F8C3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7B02F66-37E2-8F72-B910-CB0A63544B51}"/>
              </a:ext>
            </a:extLst>
          </p:cNvPr>
          <p:cNvSpPr txBox="1"/>
          <p:nvPr/>
        </p:nvSpPr>
        <p:spPr>
          <a:xfrm>
            <a:off x="548640" y="384048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00" b="1" kern="0" spc="120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PROBLEM</a:t>
            </a:r>
            <a:endParaRPr lang="en-US" sz="1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30B1CA1-E3CF-77A9-E193-9E139FE57175}"/>
              </a:ext>
            </a:extLst>
          </p:cNvPr>
          <p:cNvSpPr txBox="1"/>
          <p:nvPr/>
        </p:nvSpPr>
        <p:spPr>
          <a:xfrm>
            <a:off x="548640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</a:rPr>
              <a:t>Multi-scale Carpark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48470B6-3144-21D6-3FCB-2523B6841B22}"/>
              </a:ext>
            </a:extLst>
          </p:cNvPr>
          <p:cNvSpPr txBox="1"/>
          <p:nvPr/>
        </p:nvSpPr>
        <p:spPr>
          <a:xfrm>
            <a:off x="548640" y="1069848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capacity and more automation means more things to coordinate — and more ways a small fault can become an operational incident.</a:t>
            </a:r>
            <a:endParaRPr lang="en-US" sz="11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6A48C9F5-5693-C2A4-D1F2-1AAEDAFA0DCD}"/>
              </a:ext>
            </a:extLst>
          </p:cNvPr>
          <p:cNvSpPr/>
          <p:nvPr/>
        </p:nvSpPr>
        <p:spPr>
          <a:xfrm>
            <a:off x="548640" y="1774231"/>
            <a:ext cx="4572000" cy="3611880"/>
          </a:xfrm>
          <a:prstGeom prst="roundRect">
            <a:avLst>
              <a:gd name="adj" fmla="val 2759"/>
            </a:avLst>
          </a:prstGeom>
          <a:solidFill>
            <a:srgbClr val="101B2D"/>
          </a:solidFill>
          <a:ln w="12700">
            <a:solidFill>
              <a:srgbClr val="26364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pic>
        <p:nvPicPr>
          <p:cNvPr id="6" name="Image 0" descr="/mnt/data/fab1f382-2eb4-43ea-b243-20ff45c81842.png">
            <a:extLst>
              <a:ext uri="{FF2B5EF4-FFF2-40B4-BE49-F238E27FC236}">
                <a16:creationId xmlns:a16="http://schemas.microsoft.com/office/drawing/2014/main" id="{C96C908F-3031-EEC7-C4AB-83E22E077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0369" y="2273556"/>
            <a:ext cx="1739206" cy="2530934"/>
          </a:xfrm>
          <a:prstGeom prst="rect">
            <a:avLst/>
          </a:prstGeom>
        </p:spPr>
      </p:pic>
      <p:sp>
        <p:nvSpPr>
          <p:cNvPr id="7" name="Shape 4">
            <a:extLst>
              <a:ext uri="{FF2B5EF4-FFF2-40B4-BE49-F238E27FC236}">
                <a16:creationId xmlns:a16="http://schemas.microsoft.com/office/drawing/2014/main" id="{D35698D8-A6D0-FEF0-39DF-7510EB3D5C3B}"/>
              </a:ext>
            </a:extLst>
          </p:cNvPr>
          <p:cNvSpPr/>
          <p:nvPr/>
        </p:nvSpPr>
        <p:spPr>
          <a:xfrm>
            <a:off x="768096" y="1893103"/>
            <a:ext cx="868680" cy="256032"/>
          </a:xfrm>
          <a:prstGeom prst="roundRect">
            <a:avLst>
              <a:gd name="adj" fmla="val 42857"/>
            </a:avLst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F69E972-EA4A-F0BD-3E79-E592EE8BBF68}"/>
              </a:ext>
            </a:extLst>
          </p:cNvPr>
          <p:cNvSpPr/>
          <p:nvPr/>
        </p:nvSpPr>
        <p:spPr>
          <a:xfrm>
            <a:off x="1737360" y="1893103"/>
            <a:ext cx="868680" cy="256032"/>
          </a:xfrm>
          <a:prstGeom prst="roundRect">
            <a:avLst>
              <a:gd name="adj" fmla="val 42857"/>
            </a:avLst>
          </a:prstGeom>
          <a:solidFill>
            <a:srgbClr val="07111F"/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221919BD-581A-E299-297E-1308E79A8FDB}"/>
              </a:ext>
            </a:extLst>
          </p:cNvPr>
          <p:cNvSpPr/>
          <p:nvPr/>
        </p:nvSpPr>
        <p:spPr>
          <a:xfrm>
            <a:off x="5349240" y="1801663"/>
            <a:ext cx="2788920" cy="1005840"/>
          </a:xfrm>
          <a:prstGeom prst="roundRect">
            <a:avLst>
              <a:gd name="adj" fmla="val 10909"/>
            </a:avLst>
          </a:prstGeom>
          <a:solidFill>
            <a:srgbClr val="0B1525"/>
          </a:solidFill>
          <a:ln w="12700">
            <a:solidFill>
              <a:srgbClr val="26364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D7DB6868-494B-111C-B7AA-9F29C4B8AE5D}"/>
              </a:ext>
            </a:extLst>
          </p:cNvPr>
          <p:cNvSpPr/>
          <p:nvPr/>
        </p:nvSpPr>
        <p:spPr>
          <a:xfrm>
            <a:off x="5486400" y="1938823"/>
            <a:ext cx="384048" cy="384048"/>
          </a:xfrm>
          <a:prstGeom prst="ellipse">
            <a:avLst/>
          </a:prstGeom>
          <a:solidFill>
            <a:srgbClr val="67E8F9">
              <a:alpha val="18000"/>
            </a:srgbClr>
          </a:solidFill>
          <a:ln w="12700">
            <a:solidFill>
              <a:srgbClr val="67E8F9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8B90E9C5-356D-F924-A192-7CBBD702EBD6}"/>
              </a:ext>
            </a:extLst>
          </p:cNvPr>
          <p:cNvSpPr txBox="1"/>
          <p:nvPr/>
        </p:nvSpPr>
        <p:spPr>
          <a:xfrm>
            <a:off x="5486400" y="1993687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14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DB87CDAC-74D7-37E3-9680-92884526BC21}"/>
              </a:ext>
            </a:extLst>
          </p:cNvPr>
          <p:cNvSpPr txBox="1"/>
          <p:nvPr/>
        </p:nvSpPr>
        <p:spPr>
          <a:xfrm>
            <a:off x="5989320" y="1929679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70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FLOW</a:t>
            </a:r>
            <a:endParaRPr lang="en-US" sz="8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E5CB930D-5C15-1A80-5019-C2BADF07FBD2}"/>
              </a:ext>
            </a:extLst>
          </p:cNvPr>
          <p:cNvSpPr txBox="1"/>
          <p:nvPr/>
        </p:nvSpPr>
        <p:spPr>
          <a:xfrm>
            <a:off x="5989320" y="2149135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Cars can arrive, move, park, queue, pay and leave across multiple routes.</a:t>
            </a:r>
            <a:endParaRPr lang="en-US" sz="95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E4FA455E-1F30-F925-952E-E2A4D58A149E}"/>
              </a:ext>
            </a:extLst>
          </p:cNvPr>
          <p:cNvSpPr/>
          <p:nvPr/>
        </p:nvSpPr>
        <p:spPr>
          <a:xfrm>
            <a:off x="8412480" y="1801663"/>
            <a:ext cx="2788920" cy="1005840"/>
          </a:xfrm>
          <a:prstGeom prst="roundRect">
            <a:avLst>
              <a:gd name="adj" fmla="val 10909"/>
            </a:avLst>
          </a:prstGeom>
          <a:solidFill>
            <a:srgbClr val="0B1525"/>
          </a:solidFill>
          <a:ln w="12700">
            <a:solidFill>
              <a:srgbClr val="26364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280A0118-AFFB-E2ED-C475-95078A1CF2F1}"/>
              </a:ext>
            </a:extLst>
          </p:cNvPr>
          <p:cNvSpPr/>
          <p:nvPr/>
        </p:nvSpPr>
        <p:spPr>
          <a:xfrm>
            <a:off x="8549640" y="1938823"/>
            <a:ext cx="384048" cy="384048"/>
          </a:xfrm>
          <a:prstGeom prst="ellipse">
            <a:avLst/>
          </a:prstGeom>
          <a:solidFill>
            <a:srgbClr val="86EFAC">
              <a:alpha val="18000"/>
            </a:srgbClr>
          </a:solidFill>
          <a:ln w="12700">
            <a:solidFill>
              <a:srgbClr val="86EFAC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21051778-C8A1-32F0-6FD3-E20197195E01}"/>
              </a:ext>
            </a:extLst>
          </p:cNvPr>
          <p:cNvSpPr txBox="1"/>
          <p:nvPr/>
        </p:nvSpPr>
        <p:spPr>
          <a:xfrm>
            <a:off x="8549640" y="1993687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86EF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⚙</a:t>
            </a:r>
            <a:endParaRPr lang="en-US" sz="14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BCFE6931-6421-C73C-0EA2-513FD2E29973}"/>
              </a:ext>
            </a:extLst>
          </p:cNvPr>
          <p:cNvSpPr txBox="1"/>
          <p:nvPr/>
        </p:nvSpPr>
        <p:spPr>
          <a:xfrm>
            <a:off x="9052560" y="1929679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70" dirty="0">
                <a:solidFill>
                  <a:srgbClr val="86EF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COMPONENTS</a:t>
            </a:r>
            <a:endParaRPr lang="en-US" sz="8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3142F417-AE5B-B378-E9FF-8571BA0B0318}"/>
              </a:ext>
            </a:extLst>
          </p:cNvPr>
          <p:cNvSpPr txBox="1"/>
          <p:nvPr/>
        </p:nvSpPr>
        <p:spPr>
          <a:xfrm>
            <a:off x="9052560" y="2149135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Spots, gates, lights and fans have state, usage and failure modes.</a:t>
            </a:r>
            <a:endParaRPr lang="en-US" sz="950" dirty="0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892BC509-D608-791A-ADAD-167E6081F908}"/>
              </a:ext>
            </a:extLst>
          </p:cNvPr>
          <p:cNvSpPr/>
          <p:nvPr/>
        </p:nvSpPr>
        <p:spPr>
          <a:xfrm>
            <a:off x="5349240" y="3017815"/>
            <a:ext cx="2788920" cy="1005840"/>
          </a:xfrm>
          <a:prstGeom prst="roundRect">
            <a:avLst>
              <a:gd name="adj" fmla="val 10909"/>
            </a:avLst>
          </a:prstGeom>
          <a:solidFill>
            <a:srgbClr val="0B1525"/>
          </a:solidFill>
          <a:ln w="12700">
            <a:solidFill>
              <a:srgbClr val="26364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14A1D02D-6A04-2C09-1B7E-E294010DA830}"/>
              </a:ext>
            </a:extLst>
          </p:cNvPr>
          <p:cNvSpPr/>
          <p:nvPr/>
        </p:nvSpPr>
        <p:spPr>
          <a:xfrm>
            <a:off x="5486400" y="3154975"/>
            <a:ext cx="384048" cy="384048"/>
          </a:xfrm>
          <a:prstGeom prst="ellipse">
            <a:avLst/>
          </a:prstGeom>
          <a:solidFill>
            <a:srgbClr val="F87171">
              <a:alpha val="18000"/>
            </a:srgbClr>
          </a:solidFill>
          <a:ln w="12700">
            <a:solidFill>
              <a:srgbClr val="F87171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29899EE0-A87E-58F0-3873-EF2F8F76D9F5}"/>
              </a:ext>
            </a:extLst>
          </p:cNvPr>
          <p:cNvSpPr txBox="1"/>
          <p:nvPr/>
        </p:nvSpPr>
        <p:spPr>
          <a:xfrm>
            <a:off x="5486400" y="3209839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87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!</a:t>
            </a:r>
            <a:endParaRPr lang="en-US" sz="1400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6E7F708A-50CA-62E8-5C39-18A762DAF4AC}"/>
              </a:ext>
            </a:extLst>
          </p:cNvPr>
          <p:cNvSpPr txBox="1"/>
          <p:nvPr/>
        </p:nvSpPr>
        <p:spPr>
          <a:xfrm>
            <a:off x="5989320" y="3145831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70" dirty="0">
                <a:solidFill>
                  <a:srgbClr val="F87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</a:t>
            </a:r>
            <a:endParaRPr lang="en-US" sz="800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7A5530D0-B463-C1ED-2AC2-1A33266BD4A8}"/>
              </a:ext>
            </a:extLst>
          </p:cNvPr>
          <p:cNvSpPr txBox="1"/>
          <p:nvPr/>
        </p:nvSpPr>
        <p:spPr>
          <a:xfrm>
            <a:off x="5989320" y="3365287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 levels can turn a normal zone into a ventilation incident.</a:t>
            </a:r>
            <a:endParaRPr lang="en-US" sz="950" dirty="0"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0A769E29-4E66-11B7-B5EC-06A4EC1C18D2}"/>
              </a:ext>
            </a:extLst>
          </p:cNvPr>
          <p:cNvSpPr/>
          <p:nvPr/>
        </p:nvSpPr>
        <p:spPr>
          <a:xfrm>
            <a:off x="8412480" y="3017815"/>
            <a:ext cx="2788920" cy="1005840"/>
          </a:xfrm>
          <a:prstGeom prst="roundRect">
            <a:avLst>
              <a:gd name="adj" fmla="val 10909"/>
            </a:avLst>
          </a:prstGeom>
          <a:solidFill>
            <a:srgbClr val="0B1525"/>
          </a:solidFill>
          <a:ln w="12700">
            <a:solidFill>
              <a:srgbClr val="26364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86FD2E96-0B98-63DF-87A9-9ED91693331A}"/>
              </a:ext>
            </a:extLst>
          </p:cNvPr>
          <p:cNvSpPr/>
          <p:nvPr/>
        </p:nvSpPr>
        <p:spPr>
          <a:xfrm>
            <a:off x="8549640" y="3154975"/>
            <a:ext cx="384048" cy="384048"/>
          </a:xfrm>
          <a:prstGeom prst="ellipse">
            <a:avLst/>
          </a:prstGeom>
          <a:solidFill>
            <a:srgbClr val="A78BFA">
              <a:alpha val="18000"/>
            </a:srgbClr>
          </a:solidFill>
          <a:ln w="12700">
            <a:solidFill>
              <a:srgbClr val="A78BFA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7404856D-2C7C-7E30-52EA-3B9B1C62F82E}"/>
              </a:ext>
            </a:extLst>
          </p:cNvPr>
          <p:cNvSpPr txBox="1"/>
          <p:nvPr/>
        </p:nvSpPr>
        <p:spPr>
          <a:xfrm>
            <a:off x="8549640" y="3209839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◆</a:t>
            </a:r>
            <a:endParaRPr lang="en-US" sz="1400" dirty="0"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55ECC016-DE97-F5FD-E16D-EF83A025D969}"/>
              </a:ext>
            </a:extLst>
          </p:cNvPr>
          <p:cNvSpPr txBox="1"/>
          <p:nvPr/>
        </p:nvSpPr>
        <p:spPr>
          <a:xfrm>
            <a:off x="9052560" y="3145831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70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800"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91B7313E-FC8C-7473-9D2C-94B1B26F07EA}"/>
              </a:ext>
            </a:extLst>
          </p:cNvPr>
          <p:cNvSpPr txBox="1"/>
          <p:nvPr/>
        </p:nvSpPr>
        <p:spPr>
          <a:xfrm>
            <a:off x="9052560" y="3365287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Operators, maintenance and admins need different powers.</a:t>
            </a:r>
            <a:endParaRPr lang="en-US" sz="950" dirty="0"/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1F813C1C-A2B5-83DD-54A8-DC6CE266C4A5}"/>
              </a:ext>
            </a:extLst>
          </p:cNvPr>
          <p:cNvSpPr/>
          <p:nvPr/>
        </p:nvSpPr>
        <p:spPr>
          <a:xfrm>
            <a:off x="5349240" y="4233967"/>
            <a:ext cx="2788920" cy="1005840"/>
          </a:xfrm>
          <a:prstGeom prst="roundRect">
            <a:avLst>
              <a:gd name="adj" fmla="val 10909"/>
            </a:avLst>
          </a:prstGeom>
          <a:solidFill>
            <a:srgbClr val="0B1525"/>
          </a:solidFill>
          <a:ln w="12700">
            <a:solidFill>
              <a:srgbClr val="26364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A59F6EC7-E34B-53E2-5532-4CE2F61ED608}"/>
              </a:ext>
            </a:extLst>
          </p:cNvPr>
          <p:cNvSpPr/>
          <p:nvPr/>
        </p:nvSpPr>
        <p:spPr>
          <a:xfrm>
            <a:off x="5486400" y="4371127"/>
            <a:ext cx="384048" cy="384048"/>
          </a:xfrm>
          <a:prstGeom prst="ellipse">
            <a:avLst/>
          </a:prstGeom>
          <a:solidFill>
            <a:srgbClr val="FBBF24">
              <a:alpha val="18000"/>
            </a:srgbClr>
          </a:solidFill>
          <a:ln w="12700">
            <a:solidFill>
              <a:srgbClr val="FBBF24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866319B2-9BE5-ACBB-9E27-B0608D522CCD}"/>
              </a:ext>
            </a:extLst>
          </p:cNvPr>
          <p:cNvSpPr txBox="1"/>
          <p:nvPr/>
        </p:nvSpPr>
        <p:spPr>
          <a:xfrm>
            <a:off x="5486400" y="4425991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41C54553-2ACB-F2D9-03B9-4C53691A3401}"/>
              </a:ext>
            </a:extLst>
          </p:cNvPr>
          <p:cNvSpPr txBox="1"/>
          <p:nvPr/>
        </p:nvSpPr>
        <p:spPr>
          <a:xfrm>
            <a:off x="5989320" y="4361983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7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</a:t>
            </a:r>
            <a:endParaRPr lang="en-US" sz="800" dirty="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79E4903F-2F45-3438-72C6-F870FE2623EA}"/>
              </a:ext>
            </a:extLst>
          </p:cNvPr>
          <p:cNvSpPr txBox="1"/>
          <p:nvPr/>
        </p:nvSpPr>
        <p:spPr>
          <a:xfrm>
            <a:off x="5989320" y="4581439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verified events should be allowed to change system state.</a:t>
            </a:r>
            <a:endParaRPr lang="en-US" sz="950" dirty="0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B2CC503F-6EA8-52DB-F8EC-C51234A99E54}"/>
              </a:ext>
            </a:extLst>
          </p:cNvPr>
          <p:cNvSpPr/>
          <p:nvPr/>
        </p:nvSpPr>
        <p:spPr>
          <a:xfrm>
            <a:off x="8412480" y="4233967"/>
            <a:ext cx="2788920" cy="1005840"/>
          </a:xfrm>
          <a:prstGeom prst="roundRect">
            <a:avLst>
              <a:gd name="adj" fmla="val 10909"/>
            </a:avLst>
          </a:prstGeom>
          <a:solidFill>
            <a:srgbClr val="0B1525"/>
          </a:solidFill>
          <a:ln w="12700">
            <a:solidFill>
              <a:srgbClr val="26364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" name="Shape 36">
            <a:extLst>
              <a:ext uri="{FF2B5EF4-FFF2-40B4-BE49-F238E27FC236}">
                <a16:creationId xmlns:a16="http://schemas.microsoft.com/office/drawing/2014/main" id="{A885FDBA-2496-D6F9-5F22-EBEE17CEC648}"/>
              </a:ext>
            </a:extLst>
          </p:cNvPr>
          <p:cNvSpPr/>
          <p:nvPr/>
        </p:nvSpPr>
        <p:spPr>
          <a:xfrm>
            <a:off x="8549640" y="4371127"/>
            <a:ext cx="384048" cy="384048"/>
          </a:xfrm>
          <a:prstGeom prst="ellipse">
            <a:avLst/>
          </a:prstGeom>
          <a:solidFill>
            <a:srgbClr val="38BDF8">
              <a:alpha val="18000"/>
            </a:srgbClr>
          </a:solidFill>
          <a:ln w="12700">
            <a:solidFill>
              <a:srgbClr val="38BDF8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F423FF92-687E-C87F-0E71-E35433BC5D12}"/>
              </a:ext>
            </a:extLst>
          </p:cNvPr>
          <p:cNvSpPr txBox="1"/>
          <p:nvPr/>
        </p:nvSpPr>
        <p:spPr>
          <a:xfrm>
            <a:off x="8549640" y="4425991"/>
            <a:ext cx="3840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◷</a:t>
            </a:r>
            <a:endParaRPr lang="en-US" sz="1400" dirty="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BB6D88DC-FBC3-C858-44E7-9A776EEA1119}"/>
              </a:ext>
            </a:extLst>
          </p:cNvPr>
          <p:cNvSpPr txBox="1"/>
          <p:nvPr/>
        </p:nvSpPr>
        <p:spPr>
          <a:xfrm>
            <a:off x="9052560" y="4361983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70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TRACEABILITY</a:t>
            </a:r>
            <a:endParaRPr lang="en-US" sz="800" dirty="0"/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21DFD0D3-1012-66DD-E9ED-BC51A1F77FE9}"/>
              </a:ext>
            </a:extLst>
          </p:cNvPr>
          <p:cNvSpPr txBox="1"/>
          <p:nvPr/>
        </p:nvSpPr>
        <p:spPr>
          <a:xfrm>
            <a:off x="9052560" y="4581439"/>
            <a:ext cx="19385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Repairs, penalties, logins and system changes must remain auditable.</a:t>
            </a:r>
            <a:endParaRPr lang="en-US" sz="950" dirty="0"/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6A5424E4-15FB-6BF6-A387-D5C12D1E0AEC}"/>
              </a:ext>
            </a:extLst>
          </p:cNvPr>
          <p:cNvSpPr/>
          <p:nvPr/>
        </p:nvSpPr>
        <p:spPr>
          <a:xfrm>
            <a:off x="548640" y="6007608"/>
            <a:ext cx="11064240" cy="356616"/>
          </a:xfrm>
          <a:prstGeom prst="roundRect">
            <a:avLst>
              <a:gd name="adj" fmla="val 20513"/>
            </a:avLst>
          </a:prstGeom>
          <a:solidFill>
            <a:srgbClr val="0B1525"/>
          </a:solidFill>
          <a:ln w="12700">
            <a:solidFill>
              <a:srgbClr val="26364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59A46797-1195-D90D-F367-1D4FC1DC199B}"/>
              </a:ext>
            </a:extLst>
          </p:cNvPr>
          <p:cNvSpPr txBox="1"/>
          <p:nvPr/>
        </p:nvSpPr>
        <p:spPr>
          <a:xfrm>
            <a:off x="704088" y="6099048"/>
            <a:ext cx="11887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kern="0" spc="80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DESIGN</a:t>
            </a:r>
            <a:endParaRPr lang="en-US" sz="750" dirty="0"/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550242A9-DD97-DAC9-1BFE-A16FB55DD111}"/>
              </a:ext>
            </a:extLst>
          </p:cNvPr>
          <p:cNvSpPr txBox="1"/>
          <p:nvPr/>
        </p:nvSpPr>
        <p:spPr>
          <a:xfrm>
            <a:off x="1920240" y="6062472"/>
            <a:ext cx="9464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system separates operational truth (simulator events) from control policy (what PARKMIND is allowed to do).</a:t>
            </a:r>
            <a:endParaRPr lang="en-US" sz="850" dirty="0"/>
          </a:p>
        </p:txBody>
      </p:sp>
      <p:sp>
        <p:nvSpPr>
          <p:cNvPr id="46" name="Slide Number Placeholder 0">
            <a:extLst>
              <a:ext uri="{FF2B5EF4-FFF2-40B4-BE49-F238E27FC236}">
                <a16:creationId xmlns:a16="http://schemas.microsoft.com/office/drawing/2014/main" id="{285C1F45-0BDC-68C2-040D-C1CF9E573A0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750040" y="648309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5A67EE17-BD03-68CA-B16C-66E7DFECD47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5833" t="11558" r="5409"/>
          <a:stretch>
            <a:fillRect/>
          </a:stretch>
        </p:blipFill>
        <p:spPr>
          <a:xfrm>
            <a:off x="707433" y="1963901"/>
            <a:ext cx="2475570" cy="1462464"/>
          </a:xfrm>
          <a:prstGeom prst="rect">
            <a:avLst/>
          </a:prstGeom>
        </p:spPr>
      </p:pic>
      <p:pic>
        <p:nvPicPr>
          <p:cNvPr id="50" name="Picture 49">
            <a:extLst>
              <a:ext uri="{FF2B5EF4-FFF2-40B4-BE49-F238E27FC236}">
                <a16:creationId xmlns:a16="http://schemas.microsoft.com/office/drawing/2014/main" id="{C357AC16-D852-7A9D-757A-F9B0F036CE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131" y="3827059"/>
            <a:ext cx="2475570" cy="1298448"/>
          </a:xfrm>
          <a:prstGeom prst="rect">
            <a:avLst/>
          </a:prstGeom>
        </p:spPr>
      </p:pic>
      <p:pic>
        <p:nvPicPr>
          <p:cNvPr id="52" name="Picture 51">
            <a:extLst>
              <a:ext uri="{FF2B5EF4-FFF2-40B4-BE49-F238E27FC236}">
                <a16:creationId xmlns:a16="http://schemas.microsoft.com/office/drawing/2014/main" id="{A0A4B8D1-0BD0-6808-B4E4-735D9D299E5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5725" t="18250" r="25075" b="18186"/>
          <a:stretch>
            <a:fillRect/>
          </a:stretch>
        </p:blipFill>
        <p:spPr>
          <a:xfrm>
            <a:off x="10206042" y="130928"/>
            <a:ext cx="1832571" cy="1291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2189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22D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/  RESILIENCE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fail-over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0972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88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failed barrier should not become a failed parking facility.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530352" y="1609344"/>
            <a:ext cx="6812280" cy="4096512"/>
          </a:xfrm>
          <a:prstGeom prst="roundRect">
            <a:avLst>
              <a:gd name="adj" fmla="val 2679"/>
            </a:avLst>
          </a:prstGeom>
          <a:solidFill>
            <a:srgbClr val="0B1A2D"/>
          </a:solidFill>
          <a:ln w="12700">
            <a:solidFill>
              <a:srgbClr val="16365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Text 4"/>
          <p:cNvSpPr/>
          <p:nvPr/>
        </p:nvSpPr>
        <p:spPr>
          <a:xfrm>
            <a:off x="804672" y="18196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kern="0" spc="100" dirty="0">
                <a:solidFill>
                  <a:srgbClr val="88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TRAFFIC MAP</a:t>
            </a:r>
            <a:endParaRPr lang="en-US" sz="740" dirty="0"/>
          </a:p>
        </p:txBody>
      </p:sp>
      <p:sp>
        <p:nvSpPr>
          <p:cNvPr id="7" name="Shape 5"/>
          <p:cNvSpPr/>
          <p:nvPr/>
        </p:nvSpPr>
        <p:spPr>
          <a:xfrm>
            <a:off x="914400" y="2487168"/>
            <a:ext cx="6016752" cy="109728"/>
          </a:xfrm>
          <a:prstGeom prst="rect">
            <a:avLst/>
          </a:prstGeom>
          <a:solidFill>
            <a:srgbClr val="19344A"/>
          </a:solidFill>
          <a:ln w="12700">
            <a:solidFill>
              <a:srgbClr val="1934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Shape 6"/>
          <p:cNvSpPr/>
          <p:nvPr/>
        </p:nvSpPr>
        <p:spPr>
          <a:xfrm>
            <a:off x="914400" y="4187952"/>
            <a:ext cx="6016752" cy="109728"/>
          </a:xfrm>
          <a:prstGeom prst="rect">
            <a:avLst/>
          </a:prstGeom>
          <a:solidFill>
            <a:srgbClr val="19344A"/>
          </a:solidFill>
          <a:ln w="12700">
            <a:solidFill>
              <a:srgbClr val="19344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Shape 7"/>
          <p:cNvSpPr/>
          <p:nvPr/>
        </p:nvSpPr>
        <p:spPr>
          <a:xfrm>
            <a:off x="950976" y="1938528"/>
            <a:ext cx="1371600" cy="512064"/>
          </a:xfrm>
          <a:prstGeom prst="roundRect">
            <a:avLst>
              <a:gd name="adj" fmla="val 14286"/>
            </a:avLst>
          </a:prstGeom>
          <a:solidFill>
            <a:srgbClr val="0D2238"/>
          </a:solidFill>
          <a:ln w="12700">
            <a:solidFill>
              <a:srgbClr val="16365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8"/>
          <p:cNvSpPr/>
          <p:nvPr/>
        </p:nvSpPr>
        <p:spPr>
          <a:xfrm>
            <a:off x="1042416" y="204825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A</a:t>
            </a:r>
            <a:endParaRPr lang="en-US" sz="760" dirty="0"/>
          </a:p>
        </p:txBody>
      </p:sp>
      <p:sp>
        <p:nvSpPr>
          <p:cNvPr id="11" name="Shape 9"/>
          <p:cNvSpPr/>
          <p:nvPr/>
        </p:nvSpPr>
        <p:spPr>
          <a:xfrm>
            <a:off x="1179576" y="2505456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37D6AA"/>
          </a:solidFill>
          <a:ln w="12700">
            <a:solidFill>
              <a:srgbClr val="37D6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10"/>
          <p:cNvSpPr/>
          <p:nvPr/>
        </p:nvSpPr>
        <p:spPr>
          <a:xfrm>
            <a:off x="1252728" y="251460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70" dirty="0">
                <a:solidFill>
                  <a:srgbClr val="06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962656" y="1938528"/>
            <a:ext cx="1371600" cy="512064"/>
          </a:xfrm>
          <a:prstGeom prst="roundRect">
            <a:avLst>
              <a:gd name="adj" fmla="val 14286"/>
            </a:avLst>
          </a:prstGeom>
          <a:solidFill>
            <a:srgbClr val="361A25"/>
          </a:solidFill>
          <a:ln w="12700">
            <a:solidFill>
              <a:srgbClr val="FF6472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Text 12"/>
          <p:cNvSpPr/>
          <p:nvPr/>
        </p:nvSpPr>
        <p:spPr>
          <a:xfrm>
            <a:off x="3054096" y="204825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B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3191256" y="2505456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FF6472"/>
          </a:solidFill>
          <a:ln w="12700">
            <a:solidFill>
              <a:srgbClr val="FF64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3264408" y="251460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70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BROKEN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4974336" y="1938528"/>
            <a:ext cx="1371600" cy="512064"/>
          </a:xfrm>
          <a:prstGeom prst="roundRect">
            <a:avLst>
              <a:gd name="adj" fmla="val 14286"/>
            </a:avLst>
          </a:prstGeom>
          <a:solidFill>
            <a:srgbClr val="0D2238"/>
          </a:solidFill>
          <a:ln w="12700">
            <a:solidFill>
              <a:srgbClr val="16365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Text 16"/>
          <p:cNvSpPr/>
          <p:nvPr/>
        </p:nvSpPr>
        <p:spPr>
          <a:xfrm>
            <a:off x="5065776" y="2048256"/>
            <a:ext cx="1188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C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5202936" y="2505456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37D6AA"/>
          </a:solidFill>
          <a:ln w="12700">
            <a:solidFill>
              <a:srgbClr val="37D6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Text 18"/>
          <p:cNvSpPr/>
          <p:nvPr/>
        </p:nvSpPr>
        <p:spPr>
          <a:xfrm>
            <a:off x="5276088" y="2514600"/>
            <a:ext cx="768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70" dirty="0">
                <a:solidFill>
                  <a:srgbClr val="06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591056" y="3438144"/>
            <a:ext cx="3474720" cy="0"/>
          </a:xfrm>
          <a:prstGeom prst="line">
            <a:avLst/>
          </a:prstGeom>
          <a:noFill/>
          <a:ln w="25400">
            <a:solidFill>
              <a:srgbClr val="37D6A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SG"/>
          </a:p>
        </p:txBody>
      </p:sp>
      <p:sp>
        <p:nvSpPr>
          <p:cNvPr id="22" name="Shape 20"/>
          <p:cNvSpPr/>
          <p:nvPr/>
        </p:nvSpPr>
        <p:spPr>
          <a:xfrm>
            <a:off x="3419856" y="3438144"/>
            <a:ext cx="0" cy="0"/>
          </a:xfrm>
          <a:prstGeom prst="line">
            <a:avLst/>
          </a:prstGeom>
          <a:noFill/>
          <a:ln w="25400">
            <a:solidFill>
              <a:srgbClr val="FF6472"/>
            </a:solidFill>
            <a:prstDash val="dash"/>
            <a:headEnd type="none"/>
            <a:tailEnd type="none"/>
          </a:ln>
        </p:spPr>
        <p:txBody>
          <a:bodyPr/>
          <a:lstStyle/>
          <a:p>
            <a:endParaRPr lang="en-SG"/>
          </a:p>
        </p:txBody>
      </p:sp>
      <p:sp>
        <p:nvSpPr>
          <p:cNvPr id="23" name="Shape 21"/>
          <p:cNvSpPr/>
          <p:nvPr/>
        </p:nvSpPr>
        <p:spPr>
          <a:xfrm>
            <a:off x="5065776" y="3438144"/>
            <a:ext cx="0" cy="0"/>
          </a:xfrm>
          <a:prstGeom prst="line">
            <a:avLst/>
          </a:prstGeom>
          <a:noFill/>
          <a:ln w="25400">
            <a:solidFill>
              <a:srgbClr val="37D6A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SG"/>
          </a:p>
        </p:txBody>
      </p:sp>
      <p:sp>
        <p:nvSpPr>
          <p:cNvPr id="24" name="Shape 22"/>
          <p:cNvSpPr/>
          <p:nvPr/>
        </p:nvSpPr>
        <p:spPr>
          <a:xfrm>
            <a:off x="1298448" y="3310128"/>
            <a:ext cx="201168" cy="201168"/>
          </a:xfrm>
          <a:prstGeom prst="ellipse">
            <a:avLst/>
          </a:prstGeom>
          <a:solidFill>
            <a:srgbClr val="22DD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Shape 23"/>
          <p:cNvSpPr/>
          <p:nvPr/>
        </p:nvSpPr>
        <p:spPr>
          <a:xfrm>
            <a:off x="2286000" y="3310128"/>
            <a:ext cx="201168" cy="201168"/>
          </a:xfrm>
          <a:prstGeom prst="ellipse">
            <a:avLst/>
          </a:prstGeom>
          <a:solidFill>
            <a:srgbClr val="F4C75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Shape 24"/>
          <p:cNvSpPr/>
          <p:nvPr/>
        </p:nvSpPr>
        <p:spPr>
          <a:xfrm>
            <a:off x="3858768" y="3310128"/>
            <a:ext cx="201168" cy="201168"/>
          </a:xfrm>
          <a:prstGeom prst="ellipse">
            <a:avLst/>
          </a:prstGeom>
          <a:solidFill>
            <a:srgbClr val="22DD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Shape 25"/>
          <p:cNvSpPr/>
          <p:nvPr/>
        </p:nvSpPr>
        <p:spPr>
          <a:xfrm>
            <a:off x="5248656" y="3310128"/>
            <a:ext cx="201168" cy="201168"/>
          </a:xfrm>
          <a:prstGeom prst="ellipse">
            <a:avLst/>
          </a:prstGeom>
          <a:solidFill>
            <a:srgbClr val="22DD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Shape 26"/>
          <p:cNvSpPr/>
          <p:nvPr/>
        </p:nvSpPr>
        <p:spPr>
          <a:xfrm>
            <a:off x="2441448" y="4690872"/>
            <a:ext cx="1719072" cy="256032"/>
          </a:xfrm>
          <a:prstGeom prst="roundRect">
            <a:avLst>
              <a:gd name="adj" fmla="val 50000"/>
            </a:avLst>
          </a:prstGeom>
          <a:solidFill>
            <a:srgbClr val="37D6AA"/>
          </a:solidFill>
          <a:ln w="12700">
            <a:solidFill>
              <a:srgbClr val="37D6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Text 27"/>
          <p:cNvSpPr/>
          <p:nvPr/>
        </p:nvSpPr>
        <p:spPr>
          <a:xfrm>
            <a:off x="2514600" y="4700016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70" dirty="0">
                <a:solidFill>
                  <a:srgbClr val="06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TRAFFIC CONTINUES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571232" y="1609344"/>
            <a:ext cx="4096512" cy="4096512"/>
          </a:xfrm>
          <a:prstGeom prst="roundRect">
            <a:avLst>
              <a:gd name="adj" fmla="val 2679"/>
            </a:avLst>
          </a:prstGeom>
          <a:solidFill>
            <a:srgbClr val="0B1A2D"/>
          </a:solidFill>
          <a:ln w="12700">
            <a:solidFill>
              <a:srgbClr val="16365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Shape 29"/>
          <p:cNvSpPr/>
          <p:nvPr/>
        </p:nvSpPr>
        <p:spPr>
          <a:xfrm>
            <a:off x="7845552" y="1856232"/>
            <a:ext cx="1417320" cy="256032"/>
          </a:xfrm>
          <a:prstGeom prst="roundRect">
            <a:avLst>
              <a:gd name="adj" fmla="val 50000"/>
            </a:avLst>
          </a:prstGeom>
          <a:solidFill>
            <a:srgbClr val="FF6472"/>
          </a:solidFill>
          <a:ln w="12700">
            <a:solidFill>
              <a:srgbClr val="FF64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" name="Text 30"/>
          <p:cNvSpPr/>
          <p:nvPr/>
        </p:nvSpPr>
        <p:spPr>
          <a:xfrm>
            <a:off x="7918704" y="1865376"/>
            <a:ext cx="12710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70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 GATE BREAKS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7845552" y="22860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22D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034272" y="2286000"/>
            <a:ext cx="2240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is visible immediately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7845552" y="283464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37D6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REROUTE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9034272" y="2761488"/>
            <a:ext cx="2240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nearby gate becomes the path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845552" y="3521179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4C7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034272" y="3392424"/>
            <a:ext cx="22402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drivers keep moving; the failed gate is isolated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845552" y="4206240"/>
            <a:ext cx="3456432" cy="0"/>
          </a:xfrm>
          <a:prstGeom prst="line">
            <a:avLst/>
          </a:prstGeom>
          <a:noFill/>
          <a:ln w="12700">
            <a:solidFill>
              <a:srgbClr val="29465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SG"/>
          </a:p>
        </p:txBody>
      </p:sp>
      <p:sp>
        <p:nvSpPr>
          <p:cNvPr id="40" name="Text 38"/>
          <p:cNvSpPr/>
          <p:nvPr/>
        </p:nvSpPr>
        <p:spPr>
          <a:xfrm>
            <a:off x="7845552" y="44622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kern="0" spc="100" dirty="0">
                <a:solidFill>
                  <a:srgbClr val="88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RESULT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7845552" y="4736592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facility-wide shutdown</a:t>
            </a:r>
            <a:endParaRPr lang="en-US" sz="1300" dirty="0"/>
          </a:p>
          <a:p>
            <a:pPr marL="0" indent="0" algn="l">
              <a:buNone/>
            </a:pPr>
            <a:r>
              <a:rPr lang="en-US" sz="130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a single failed barrier.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892040" y="6163056"/>
            <a:ext cx="2331720" cy="256032"/>
          </a:xfrm>
          <a:prstGeom prst="roundRect">
            <a:avLst>
              <a:gd name="adj" fmla="val 50000"/>
            </a:avLst>
          </a:prstGeom>
          <a:solidFill>
            <a:srgbClr val="37D6AA"/>
          </a:solidFill>
          <a:ln w="12700">
            <a:solidFill>
              <a:srgbClr val="37D6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3" name="Text 41"/>
          <p:cNvSpPr/>
          <p:nvPr/>
        </p:nvSpPr>
        <p:spPr>
          <a:xfrm>
            <a:off x="4965192" y="6172200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70" dirty="0">
                <a:solidFill>
                  <a:srgbClr val="06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OPERATIONS LIVE</a:t>
            </a:r>
            <a:endParaRPr lang="en-US" sz="75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D738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373AD5CF-8462-303B-9E36-F9803B4F55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725" t="18250" r="25075" b="18186"/>
          <a:stretch>
            <a:fillRect/>
          </a:stretch>
        </p:blipFill>
        <p:spPr>
          <a:xfrm>
            <a:off x="10206042" y="130928"/>
            <a:ext cx="1832571" cy="12913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22D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/  ASSET PROTECTION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maintenance — service before failure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0972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88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maintenance from an emergency into a scheduled operating decision.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530352" y="1627632"/>
            <a:ext cx="4882896" cy="4151376"/>
          </a:xfrm>
          <a:prstGeom prst="roundRect">
            <a:avLst>
              <a:gd name="adj" fmla="val 2643"/>
            </a:avLst>
          </a:prstGeom>
          <a:solidFill>
            <a:srgbClr val="0B1A2D"/>
          </a:solidFill>
          <a:ln w="12700">
            <a:solidFill>
              <a:srgbClr val="16365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804672" y="1865376"/>
            <a:ext cx="54864" cy="228600"/>
          </a:xfrm>
          <a:prstGeom prst="rect">
            <a:avLst/>
          </a:prstGeom>
          <a:solidFill>
            <a:srgbClr val="37D6AA"/>
          </a:solidFill>
          <a:ln w="12700">
            <a:solidFill>
              <a:srgbClr val="37D6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914400" y="1847088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b="1" kern="0" spc="30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COMPONENT HEALTH</a:t>
            </a:r>
            <a:endParaRPr lang="en-US" sz="860" dirty="0"/>
          </a:p>
        </p:txBody>
      </p:sp>
      <p:sp>
        <p:nvSpPr>
          <p:cNvPr id="8" name="Text 6"/>
          <p:cNvSpPr/>
          <p:nvPr/>
        </p:nvSpPr>
        <p:spPr>
          <a:xfrm>
            <a:off x="822960" y="2313432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BARRIER GATE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240280" y="2322576"/>
            <a:ext cx="1517904" cy="100584"/>
          </a:xfrm>
          <a:prstGeom prst="rect">
            <a:avLst/>
          </a:prstGeom>
          <a:solidFill>
            <a:srgbClr val="13283E"/>
          </a:solidFill>
          <a:ln w="12700">
            <a:solidFill>
              <a:srgbClr val="1328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Shape 8"/>
          <p:cNvSpPr/>
          <p:nvPr/>
        </p:nvSpPr>
        <p:spPr>
          <a:xfrm>
            <a:off x="2240280" y="2322576"/>
            <a:ext cx="1320576" cy="100584"/>
          </a:xfrm>
          <a:prstGeom prst="rect">
            <a:avLst/>
          </a:prstGeom>
          <a:solidFill>
            <a:srgbClr val="37D6AA"/>
          </a:solidFill>
          <a:ln w="12700">
            <a:solidFill>
              <a:srgbClr val="37D6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3858768" y="2304288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37D6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43984" y="2295144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37D6AA"/>
          </a:solidFill>
          <a:ln w="12700">
            <a:solidFill>
              <a:srgbClr val="37D6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Text 11"/>
          <p:cNvSpPr/>
          <p:nvPr/>
        </p:nvSpPr>
        <p:spPr>
          <a:xfrm>
            <a:off x="4517136" y="2304288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70" dirty="0">
                <a:solidFill>
                  <a:srgbClr val="06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RISK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822960" y="3017520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PARKING SPOT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2240280" y="3026664"/>
            <a:ext cx="1517904" cy="100584"/>
          </a:xfrm>
          <a:prstGeom prst="rect">
            <a:avLst/>
          </a:prstGeom>
          <a:solidFill>
            <a:srgbClr val="13283E"/>
          </a:solidFill>
          <a:ln w="12700">
            <a:solidFill>
              <a:srgbClr val="1328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Shape 14"/>
          <p:cNvSpPr/>
          <p:nvPr/>
        </p:nvSpPr>
        <p:spPr>
          <a:xfrm>
            <a:off x="2240280" y="3026664"/>
            <a:ext cx="1092891" cy="100584"/>
          </a:xfrm>
          <a:prstGeom prst="rect">
            <a:avLst/>
          </a:prstGeom>
          <a:solidFill>
            <a:srgbClr val="22DDF6"/>
          </a:solidFill>
          <a:ln w="12700">
            <a:solidFill>
              <a:srgbClr val="22DD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5"/>
          <p:cNvSpPr/>
          <p:nvPr/>
        </p:nvSpPr>
        <p:spPr>
          <a:xfrm>
            <a:off x="3858768" y="3008376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22D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443984" y="2999232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22DDF6"/>
          </a:solidFill>
          <a:ln w="12700">
            <a:solidFill>
              <a:srgbClr val="22DD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7"/>
          <p:cNvSpPr/>
          <p:nvPr/>
        </p:nvSpPr>
        <p:spPr>
          <a:xfrm>
            <a:off x="4517136" y="300837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70" dirty="0">
                <a:solidFill>
                  <a:srgbClr val="06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22960" y="3721608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EXHAUST FAN</a:t>
            </a:r>
            <a:endParaRPr lang="en-US" sz="740" dirty="0"/>
          </a:p>
        </p:txBody>
      </p:sp>
      <p:sp>
        <p:nvSpPr>
          <p:cNvPr id="21" name="Shape 19"/>
          <p:cNvSpPr/>
          <p:nvPr/>
        </p:nvSpPr>
        <p:spPr>
          <a:xfrm>
            <a:off x="2240280" y="3730752"/>
            <a:ext cx="1517904" cy="100584"/>
          </a:xfrm>
          <a:prstGeom prst="rect">
            <a:avLst/>
          </a:prstGeom>
          <a:solidFill>
            <a:srgbClr val="13283E"/>
          </a:solidFill>
          <a:ln w="12700">
            <a:solidFill>
              <a:srgbClr val="1328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Shape 20"/>
          <p:cNvSpPr/>
          <p:nvPr/>
        </p:nvSpPr>
        <p:spPr>
          <a:xfrm>
            <a:off x="2240280" y="3730752"/>
            <a:ext cx="834847" cy="100584"/>
          </a:xfrm>
          <a:prstGeom prst="rect">
            <a:avLst/>
          </a:prstGeom>
          <a:solidFill>
            <a:srgbClr val="F4C75D"/>
          </a:solidFill>
          <a:ln w="12700">
            <a:solidFill>
              <a:srgbClr val="F4C7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Text 21"/>
          <p:cNvSpPr/>
          <p:nvPr/>
        </p:nvSpPr>
        <p:spPr>
          <a:xfrm>
            <a:off x="3858768" y="3712464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4C7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43984" y="3703320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F4C75D"/>
          </a:solidFill>
          <a:ln w="12700">
            <a:solidFill>
              <a:srgbClr val="F4C7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3"/>
          <p:cNvSpPr/>
          <p:nvPr/>
        </p:nvSpPr>
        <p:spPr>
          <a:xfrm>
            <a:off x="4517136" y="3712464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750" b="1" kern="0" spc="70" dirty="0">
                <a:solidFill>
                  <a:srgbClr val="06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SOON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822960" y="4425696"/>
            <a:ext cx="13716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LIGHTING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2240280" y="4434840"/>
            <a:ext cx="1517904" cy="100584"/>
          </a:xfrm>
          <a:prstGeom prst="rect">
            <a:avLst/>
          </a:prstGeom>
          <a:solidFill>
            <a:srgbClr val="13283E"/>
          </a:solidFill>
          <a:ln w="12700">
            <a:solidFill>
              <a:srgbClr val="13283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Shape 26"/>
          <p:cNvSpPr/>
          <p:nvPr/>
        </p:nvSpPr>
        <p:spPr>
          <a:xfrm>
            <a:off x="2240280" y="4434840"/>
            <a:ext cx="591983" cy="100584"/>
          </a:xfrm>
          <a:prstGeom prst="rect">
            <a:avLst/>
          </a:prstGeom>
          <a:solidFill>
            <a:srgbClr val="FF6472"/>
          </a:solidFill>
          <a:ln w="12700">
            <a:solidFill>
              <a:srgbClr val="FF64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Text 27"/>
          <p:cNvSpPr/>
          <p:nvPr/>
        </p:nvSpPr>
        <p:spPr>
          <a:xfrm>
            <a:off x="3858768" y="441655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443984" y="4407408"/>
            <a:ext cx="713232" cy="256032"/>
          </a:xfrm>
          <a:prstGeom prst="roundRect">
            <a:avLst>
              <a:gd name="adj" fmla="val 50000"/>
            </a:avLst>
          </a:prstGeom>
          <a:solidFill>
            <a:srgbClr val="FF6472"/>
          </a:solidFill>
          <a:ln w="12700">
            <a:solidFill>
              <a:srgbClr val="FF64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Text 29"/>
          <p:cNvSpPr/>
          <p:nvPr/>
        </p:nvSpPr>
        <p:spPr>
          <a:xfrm>
            <a:off x="4517136" y="441655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750" b="1" kern="0" spc="70" dirty="0">
                <a:solidFill>
                  <a:srgbClr val="06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SERVICE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822960" y="5294376"/>
            <a:ext cx="2971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10" b="1" kern="0" spc="100" dirty="0">
                <a:solidFill>
                  <a:srgbClr val="88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CYCLE → HEALTH → ACTION</a:t>
            </a:r>
            <a:endParaRPr lang="en-US" sz="710" dirty="0"/>
          </a:p>
        </p:txBody>
      </p:sp>
      <p:sp>
        <p:nvSpPr>
          <p:cNvPr id="33" name="Shape 31"/>
          <p:cNvSpPr/>
          <p:nvPr/>
        </p:nvSpPr>
        <p:spPr>
          <a:xfrm>
            <a:off x="5650992" y="1627632"/>
            <a:ext cx="5833872" cy="4151376"/>
          </a:xfrm>
          <a:prstGeom prst="roundRect">
            <a:avLst>
              <a:gd name="adj" fmla="val 2643"/>
            </a:avLst>
          </a:prstGeom>
          <a:solidFill>
            <a:srgbClr val="0B1A2D"/>
          </a:solidFill>
          <a:ln w="12700">
            <a:solidFill>
              <a:srgbClr val="16365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4" name="Shape 32"/>
          <p:cNvSpPr/>
          <p:nvPr/>
        </p:nvSpPr>
        <p:spPr>
          <a:xfrm>
            <a:off x="5650992" y="1627632"/>
            <a:ext cx="5833872" cy="292608"/>
          </a:xfrm>
          <a:prstGeom prst="rect">
            <a:avLst/>
          </a:prstGeom>
          <a:solidFill>
            <a:srgbClr val="0D2238"/>
          </a:solidFill>
          <a:ln w="12700">
            <a:solidFill>
              <a:srgbClr val="0D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Text 33"/>
          <p:cNvSpPr/>
          <p:nvPr/>
        </p:nvSpPr>
        <p:spPr>
          <a:xfrm>
            <a:off x="5779008" y="1682496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PREVENTIVE MAINTENANCE QUEUE</a:t>
            </a:r>
            <a:endParaRPr lang="en-US" sz="730" dirty="0"/>
          </a:p>
        </p:txBody>
      </p:sp>
      <p:sp>
        <p:nvSpPr>
          <p:cNvPr id="36" name="Shape 34"/>
          <p:cNvSpPr/>
          <p:nvPr/>
        </p:nvSpPr>
        <p:spPr>
          <a:xfrm>
            <a:off x="10890504" y="1719072"/>
            <a:ext cx="64008" cy="64008"/>
          </a:xfrm>
          <a:prstGeom prst="ellipse">
            <a:avLst/>
          </a:prstGeom>
          <a:solidFill>
            <a:srgbClr val="37D6AA"/>
          </a:solidFill>
          <a:ln w="12700">
            <a:solidFill>
              <a:srgbClr val="37D6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7" name="Shape 35"/>
          <p:cNvSpPr/>
          <p:nvPr/>
        </p:nvSpPr>
        <p:spPr>
          <a:xfrm>
            <a:off x="11036808" y="1719072"/>
            <a:ext cx="64008" cy="64008"/>
          </a:xfrm>
          <a:prstGeom prst="ellipse">
            <a:avLst/>
          </a:prstGeom>
          <a:solidFill>
            <a:srgbClr val="F4C75D"/>
          </a:solidFill>
          <a:ln w="12700">
            <a:solidFill>
              <a:srgbClr val="F4C7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8" name="Shape 36"/>
          <p:cNvSpPr/>
          <p:nvPr/>
        </p:nvSpPr>
        <p:spPr>
          <a:xfrm>
            <a:off x="11183112" y="1719072"/>
            <a:ext cx="64008" cy="64008"/>
          </a:xfrm>
          <a:prstGeom prst="ellipse">
            <a:avLst/>
          </a:prstGeom>
          <a:solidFill>
            <a:srgbClr val="FF6472"/>
          </a:solidFill>
          <a:ln w="12700">
            <a:solidFill>
              <a:srgbClr val="FF64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9" name="Shape 37"/>
          <p:cNvSpPr/>
          <p:nvPr/>
        </p:nvSpPr>
        <p:spPr>
          <a:xfrm>
            <a:off x="5925312" y="2130552"/>
            <a:ext cx="5276088" cy="676656"/>
          </a:xfrm>
          <a:prstGeom prst="roundRect">
            <a:avLst>
              <a:gd name="adj" fmla="val 9459"/>
            </a:avLst>
          </a:prstGeom>
          <a:solidFill>
            <a:srgbClr val="0B1C2F"/>
          </a:solidFill>
          <a:ln w="12700">
            <a:solidFill>
              <a:srgbClr val="1735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0" name="Text 38"/>
          <p:cNvSpPr/>
          <p:nvPr/>
        </p:nvSpPr>
        <p:spPr>
          <a:xfrm>
            <a:off x="6089904" y="2258568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EXHAUST FAN 03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818120" y="2258568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F4C7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TONIGHT</a:t>
            </a:r>
            <a:endParaRPr lang="en-US" sz="740" dirty="0"/>
          </a:p>
        </p:txBody>
      </p:sp>
      <p:sp>
        <p:nvSpPr>
          <p:cNvPr id="42" name="Text 40"/>
          <p:cNvSpPr/>
          <p:nvPr/>
        </p:nvSpPr>
        <p:spPr>
          <a:xfrm>
            <a:off x="9665208" y="225856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20" dirty="0">
                <a:solidFill>
                  <a:srgbClr val="88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2.1h window</a:t>
            </a:r>
            <a:endParaRPr lang="en-US" sz="720" dirty="0"/>
          </a:p>
        </p:txBody>
      </p:sp>
      <p:sp>
        <p:nvSpPr>
          <p:cNvPr id="43" name="Shape 41"/>
          <p:cNvSpPr/>
          <p:nvPr/>
        </p:nvSpPr>
        <p:spPr>
          <a:xfrm>
            <a:off x="5925312" y="2980944"/>
            <a:ext cx="5276088" cy="676656"/>
          </a:xfrm>
          <a:prstGeom prst="roundRect">
            <a:avLst>
              <a:gd name="adj" fmla="val 9459"/>
            </a:avLst>
          </a:prstGeom>
          <a:solidFill>
            <a:srgbClr val="0B1C2F"/>
          </a:solidFill>
          <a:ln w="12700">
            <a:solidFill>
              <a:srgbClr val="1735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4" name="Text 42"/>
          <p:cNvSpPr/>
          <p:nvPr/>
        </p:nvSpPr>
        <p:spPr>
          <a:xfrm>
            <a:off x="6089904" y="3108960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B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818120" y="3108960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22D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NEXT WINDOW</a:t>
            </a:r>
            <a:endParaRPr lang="en-US" sz="740" dirty="0"/>
          </a:p>
        </p:txBody>
      </p:sp>
      <p:sp>
        <p:nvSpPr>
          <p:cNvPr id="46" name="Text 44"/>
          <p:cNvSpPr/>
          <p:nvPr/>
        </p:nvSpPr>
        <p:spPr>
          <a:xfrm>
            <a:off x="9665208" y="310896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20" dirty="0">
                <a:solidFill>
                  <a:srgbClr val="88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1.4h window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5925312" y="3831336"/>
            <a:ext cx="5276088" cy="676656"/>
          </a:xfrm>
          <a:prstGeom prst="roundRect">
            <a:avLst>
              <a:gd name="adj" fmla="val 9459"/>
            </a:avLst>
          </a:prstGeom>
          <a:solidFill>
            <a:srgbClr val="0B1C2F"/>
          </a:solidFill>
          <a:ln w="12700">
            <a:solidFill>
              <a:srgbClr val="1735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8" name="Text 46"/>
          <p:cNvSpPr/>
          <p:nvPr/>
        </p:nvSpPr>
        <p:spPr>
          <a:xfrm>
            <a:off x="6089904" y="3959352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 GROUP 2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818120" y="3959352"/>
            <a:ext cx="15727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37D6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DAYLIGHT ONLY</a:t>
            </a:r>
            <a:endParaRPr lang="en-US" sz="740" dirty="0"/>
          </a:p>
        </p:txBody>
      </p:sp>
      <p:sp>
        <p:nvSpPr>
          <p:cNvPr id="50" name="Text 48"/>
          <p:cNvSpPr/>
          <p:nvPr/>
        </p:nvSpPr>
        <p:spPr>
          <a:xfrm>
            <a:off x="9665208" y="3959352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20" dirty="0">
                <a:solidFill>
                  <a:srgbClr val="88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0.7h window</a:t>
            </a:r>
            <a:endParaRPr lang="en-US" sz="720" dirty="0"/>
          </a:p>
        </p:txBody>
      </p:sp>
      <p:sp>
        <p:nvSpPr>
          <p:cNvPr id="51" name="Shape 49"/>
          <p:cNvSpPr/>
          <p:nvPr/>
        </p:nvSpPr>
        <p:spPr>
          <a:xfrm>
            <a:off x="5925312" y="4828032"/>
            <a:ext cx="5276088" cy="640080"/>
          </a:xfrm>
          <a:prstGeom prst="roundRect">
            <a:avLst>
              <a:gd name="adj" fmla="val 11429"/>
            </a:avLst>
          </a:prstGeom>
          <a:solidFill>
            <a:srgbClr val="0D2238"/>
          </a:solidFill>
          <a:ln w="12700">
            <a:solidFill>
              <a:srgbClr val="16365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2" name="Text 50"/>
          <p:cNvSpPr/>
          <p:nvPr/>
        </p:nvSpPr>
        <p:spPr>
          <a:xfrm>
            <a:off x="6089904" y="496519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30" b="1" kern="0" spc="60" dirty="0">
                <a:solidFill>
                  <a:srgbClr val="37D6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QUIET-HOUR LOGIC</a:t>
            </a:r>
            <a:endParaRPr lang="en-US" sz="730" dirty="0"/>
          </a:p>
        </p:txBody>
      </p:sp>
      <p:sp>
        <p:nvSpPr>
          <p:cNvPr id="53" name="Text 51"/>
          <p:cNvSpPr/>
          <p:nvPr/>
        </p:nvSpPr>
        <p:spPr>
          <a:xfrm>
            <a:off x="7653528" y="4946904"/>
            <a:ext cx="3154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service work away from peak traffic.</a:t>
            </a:r>
            <a:endParaRPr lang="en-US" sz="860" dirty="0"/>
          </a:p>
        </p:txBody>
      </p:sp>
      <p:sp>
        <p:nvSpPr>
          <p:cNvPr id="54" name="Shape 52"/>
          <p:cNvSpPr/>
          <p:nvPr/>
        </p:nvSpPr>
        <p:spPr>
          <a:xfrm>
            <a:off x="4892040" y="6163056"/>
            <a:ext cx="2331720" cy="256032"/>
          </a:xfrm>
          <a:prstGeom prst="roundRect">
            <a:avLst>
              <a:gd name="adj" fmla="val 50000"/>
            </a:avLst>
          </a:prstGeom>
          <a:solidFill>
            <a:srgbClr val="F4C75D"/>
          </a:solidFill>
          <a:ln w="12700">
            <a:solidFill>
              <a:srgbClr val="F4C7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5" name="Text 53"/>
          <p:cNvSpPr/>
          <p:nvPr/>
        </p:nvSpPr>
        <p:spPr>
          <a:xfrm>
            <a:off x="4965192" y="6172200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70" dirty="0">
                <a:solidFill>
                  <a:srgbClr val="06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THE ASSET</a:t>
            </a:r>
            <a:endParaRPr lang="en-US" sz="750" dirty="0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D738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  <p:pic>
        <p:nvPicPr>
          <p:cNvPr id="58" name="Picture 57">
            <a:extLst>
              <a:ext uri="{FF2B5EF4-FFF2-40B4-BE49-F238E27FC236}">
                <a16:creationId xmlns:a16="http://schemas.microsoft.com/office/drawing/2014/main" id="{597AE1FE-9AD7-1322-5A79-DE3B6EFC67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725" t="18250" r="25075" b="18186"/>
          <a:stretch>
            <a:fillRect/>
          </a:stretch>
        </p:blipFill>
        <p:spPr>
          <a:xfrm>
            <a:off x="10206042" y="130928"/>
            <a:ext cx="1832571" cy="129139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kern="0" spc="150" dirty="0">
                <a:solidFill>
                  <a:srgbClr val="22DD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/  REVENUE ASSURANCE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30352" y="62179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Pay, verify, then exit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30352" y="1097280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dirty="0">
                <a:solidFill>
                  <a:srgbClr val="88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revenue without slowing down legitimate customers.</a:t>
            </a:r>
            <a:endParaRPr lang="en-US" sz="980" dirty="0"/>
          </a:p>
        </p:txBody>
      </p:sp>
      <p:sp>
        <p:nvSpPr>
          <p:cNvPr id="5" name="Shape 3"/>
          <p:cNvSpPr/>
          <p:nvPr/>
        </p:nvSpPr>
        <p:spPr>
          <a:xfrm>
            <a:off x="530352" y="1627632"/>
            <a:ext cx="6400800" cy="4133088"/>
          </a:xfrm>
          <a:prstGeom prst="roundRect">
            <a:avLst>
              <a:gd name="adj" fmla="val 2655"/>
            </a:avLst>
          </a:prstGeom>
          <a:solidFill>
            <a:srgbClr val="0B1A2D"/>
          </a:solidFill>
          <a:ln w="12700">
            <a:solidFill>
              <a:srgbClr val="16365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4"/>
          <p:cNvSpPr/>
          <p:nvPr/>
        </p:nvSpPr>
        <p:spPr>
          <a:xfrm>
            <a:off x="530352" y="1627632"/>
            <a:ext cx="6400800" cy="292608"/>
          </a:xfrm>
          <a:prstGeom prst="rect">
            <a:avLst/>
          </a:prstGeom>
          <a:solidFill>
            <a:srgbClr val="0D2238"/>
          </a:solidFill>
          <a:ln w="12700">
            <a:solidFill>
              <a:srgbClr val="0D223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5"/>
          <p:cNvSpPr/>
          <p:nvPr/>
        </p:nvSpPr>
        <p:spPr>
          <a:xfrm>
            <a:off x="658368" y="1682496"/>
            <a:ext cx="6144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3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ACCEPTED PAYMENTS</a:t>
            </a:r>
            <a:endParaRPr lang="en-US" sz="730" dirty="0"/>
          </a:p>
        </p:txBody>
      </p:sp>
      <p:sp>
        <p:nvSpPr>
          <p:cNvPr id="8" name="Shape 6"/>
          <p:cNvSpPr/>
          <p:nvPr/>
        </p:nvSpPr>
        <p:spPr>
          <a:xfrm>
            <a:off x="6336792" y="1719072"/>
            <a:ext cx="64008" cy="64008"/>
          </a:xfrm>
          <a:prstGeom prst="ellipse">
            <a:avLst/>
          </a:prstGeom>
          <a:solidFill>
            <a:srgbClr val="37D6AA"/>
          </a:solidFill>
          <a:ln w="12700">
            <a:solidFill>
              <a:srgbClr val="37D6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Shape 7"/>
          <p:cNvSpPr/>
          <p:nvPr/>
        </p:nvSpPr>
        <p:spPr>
          <a:xfrm>
            <a:off x="6483096" y="1719072"/>
            <a:ext cx="64008" cy="64008"/>
          </a:xfrm>
          <a:prstGeom prst="ellipse">
            <a:avLst/>
          </a:prstGeom>
          <a:solidFill>
            <a:srgbClr val="F4C75D"/>
          </a:solidFill>
          <a:ln w="12700">
            <a:solidFill>
              <a:srgbClr val="F4C7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Shape 8"/>
          <p:cNvSpPr/>
          <p:nvPr/>
        </p:nvSpPr>
        <p:spPr>
          <a:xfrm>
            <a:off x="6629400" y="1719072"/>
            <a:ext cx="64008" cy="64008"/>
          </a:xfrm>
          <a:prstGeom prst="ellipse">
            <a:avLst/>
          </a:prstGeom>
          <a:solidFill>
            <a:srgbClr val="FF6472"/>
          </a:solidFill>
          <a:ln w="12700">
            <a:solidFill>
              <a:srgbClr val="FF64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9"/>
          <p:cNvSpPr/>
          <p:nvPr/>
        </p:nvSpPr>
        <p:spPr>
          <a:xfrm>
            <a:off x="804672" y="2093976"/>
            <a:ext cx="9326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88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PLATE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1920240" y="2093976"/>
            <a:ext cx="7863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88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PARKING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3017520" y="2093976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88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CHARGING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4645152" y="209397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680" b="1" dirty="0">
                <a:solidFill>
                  <a:srgbClr val="88A0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680" dirty="0"/>
          </a:p>
        </p:txBody>
      </p:sp>
      <p:sp>
        <p:nvSpPr>
          <p:cNvPr id="15" name="Shape 13"/>
          <p:cNvSpPr/>
          <p:nvPr/>
        </p:nvSpPr>
        <p:spPr>
          <a:xfrm>
            <a:off x="804672" y="2423160"/>
            <a:ext cx="5779008" cy="475488"/>
          </a:xfrm>
          <a:prstGeom prst="roundRect">
            <a:avLst>
              <a:gd name="adj" fmla="val 11538"/>
            </a:avLst>
          </a:prstGeom>
          <a:solidFill>
            <a:srgbClr val="0B1C2F"/>
          </a:solidFill>
          <a:ln w="12700">
            <a:solidFill>
              <a:srgbClr val="1735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Text 14"/>
          <p:cNvSpPr/>
          <p:nvPr/>
        </p:nvSpPr>
        <p:spPr>
          <a:xfrm>
            <a:off x="932688" y="2569464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ABC 1234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938528" y="256946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2D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12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3026664" y="256946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2D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0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4590288" y="2532888"/>
            <a:ext cx="1024128" cy="256032"/>
          </a:xfrm>
          <a:prstGeom prst="roundRect">
            <a:avLst>
              <a:gd name="adj" fmla="val 50000"/>
            </a:avLst>
          </a:prstGeom>
          <a:solidFill>
            <a:srgbClr val="37D6AA"/>
          </a:solidFill>
          <a:ln w="12700">
            <a:solidFill>
              <a:srgbClr val="37D6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Text 18"/>
          <p:cNvSpPr/>
          <p:nvPr/>
        </p:nvSpPr>
        <p:spPr>
          <a:xfrm>
            <a:off x="4663440" y="254203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70" dirty="0">
                <a:solidFill>
                  <a:srgbClr val="06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804672" y="3063240"/>
            <a:ext cx="5779008" cy="475488"/>
          </a:xfrm>
          <a:prstGeom prst="roundRect">
            <a:avLst>
              <a:gd name="adj" fmla="val 11538"/>
            </a:avLst>
          </a:prstGeom>
          <a:solidFill>
            <a:srgbClr val="0B1C2F"/>
          </a:solidFill>
          <a:ln w="12700">
            <a:solidFill>
              <a:srgbClr val="1735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Text 20"/>
          <p:cNvSpPr/>
          <p:nvPr/>
        </p:nvSpPr>
        <p:spPr>
          <a:xfrm>
            <a:off x="932688" y="3209544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WXY 808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1938528" y="320954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2D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20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3026664" y="320954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2D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8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4590288" y="3172968"/>
            <a:ext cx="1024128" cy="256032"/>
          </a:xfrm>
          <a:prstGeom prst="roundRect">
            <a:avLst>
              <a:gd name="adj" fmla="val 50000"/>
            </a:avLst>
          </a:prstGeom>
          <a:solidFill>
            <a:srgbClr val="37D6AA"/>
          </a:solidFill>
          <a:ln w="12700">
            <a:solidFill>
              <a:srgbClr val="37D6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Text 24"/>
          <p:cNvSpPr/>
          <p:nvPr/>
        </p:nvSpPr>
        <p:spPr>
          <a:xfrm>
            <a:off x="4663440" y="318211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70" dirty="0">
                <a:solidFill>
                  <a:srgbClr val="06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804672" y="3703320"/>
            <a:ext cx="5779008" cy="475488"/>
          </a:xfrm>
          <a:prstGeom prst="roundRect">
            <a:avLst>
              <a:gd name="adj" fmla="val 11538"/>
            </a:avLst>
          </a:prstGeom>
          <a:solidFill>
            <a:srgbClr val="0B1C2F"/>
          </a:solidFill>
          <a:ln w="12700">
            <a:solidFill>
              <a:srgbClr val="1735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Text 26"/>
          <p:cNvSpPr/>
          <p:nvPr/>
        </p:nvSpPr>
        <p:spPr>
          <a:xfrm>
            <a:off x="932688" y="3849624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 2026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1938528" y="384962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2D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14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3026664" y="384962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2D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11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4590288" y="3813048"/>
            <a:ext cx="1024128" cy="256032"/>
          </a:xfrm>
          <a:prstGeom prst="roundRect">
            <a:avLst>
              <a:gd name="adj" fmla="val 50000"/>
            </a:avLst>
          </a:prstGeom>
          <a:solidFill>
            <a:srgbClr val="37D6AA"/>
          </a:solidFill>
          <a:ln w="12700">
            <a:solidFill>
              <a:srgbClr val="37D6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" name="Text 30"/>
          <p:cNvSpPr/>
          <p:nvPr/>
        </p:nvSpPr>
        <p:spPr>
          <a:xfrm>
            <a:off x="4663440" y="382219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70" dirty="0">
                <a:solidFill>
                  <a:srgbClr val="06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804672" y="4343400"/>
            <a:ext cx="5779008" cy="475488"/>
          </a:xfrm>
          <a:prstGeom prst="roundRect">
            <a:avLst>
              <a:gd name="adj" fmla="val 11538"/>
            </a:avLst>
          </a:prstGeom>
          <a:solidFill>
            <a:srgbClr val="0B1C2F"/>
          </a:solidFill>
          <a:ln w="12700">
            <a:solidFill>
              <a:srgbClr val="17354F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4" name="Text 32"/>
          <p:cNvSpPr/>
          <p:nvPr/>
        </p:nvSpPr>
        <p:spPr>
          <a:xfrm>
            <a:off x="932688" y="4489704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JHK 77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1938528" y="448970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2D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8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3026664" y="4489704"/>
            <a:ext cx="7132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40" b="1" dirty="0">
                <a:solidFill>
                  <a:srgbClr val="D2DF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 0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4590288" y="4453128"/>
            <a:ext cx="1024128" cy="256032"/>
          </a:xfrm>
          <a:prstGeom prst="roundRect">
            <a:avLst>
              <a:gd name="adj" fmla="val 50000"/>
            </a:avLst>
          </a:prstGeom>
          <a:solidFill>
            <a:srgbClr val="37D6AA"/>
          </a:solidFill>
          <a:ln w="12700">
            <a:solidFill>
              <a:srgbClr val="37D6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8" name="Text 36"/>
          <p:cNvSpPr/>
          <p:nvPr/>
        </p:nvSpPr>
        <p:spPr>
          <a:xfrm>
            <a:off x="4663440" y="446227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70" dirty="0">
                <a:solidFill>
                  <a:srgbClr val="06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242048" y="1627632"/>
            <a:ext cx="4425696" cy="4133088"/>
          </a:xfrm>
          <a:prstGeom prst="roundRect">
            <a:avLst>
              <a:gd name="adj" fmla="val 2655"/>
            </a:avLst>
          </a:prstGeom>
          <a:solidFill>
            <a:srgbClr val="0B1A2D"/>
          </a:solidFill>
          <a:ln w="12700">
            <a:solidFill>
              <a:srgbClr val="16365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0" name="Shape 38"/>
          <p:cNvSpPr/>
          <p:nvPr/>
        </p:nvSpPr>
        <p:spPr>
          <a:xfrm>
            <a:off x="7525512" y="1874520"/>
            <a:ext cx="1060704" cy="256032"/>
          </a:xfrm>
          <a:prstGeom prst="roundRect">
            <a:avLst>
              <a:gd name="adj" fmla="val 50000"/>
            </a:avLst>
          </a:prstGeom>
          <a:solidFill>
            <a:srgbClr val="22DDF6"/>
          </a:solidFill>
          <a:ln w="12700">
            <a:solidFill>
              <a:srgbClr val="22DD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1" name="Text 39"/>
          <p:cNvSpPr/>
          <p:nvPr/>
        </p:nvSpPr>
        <p:spPr>
          <a:xfrm>
            <a:off x="7598664" y="188366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70" dirty="0">
                <a:solidFill>
                  <a:srgbClr val="06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CONTROL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7525512" y="2295144"/>
            <a:ext cx="34930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PAYMENT</a:t>
            </a:r>
            <a:endParaRPr lang="en-US" sz="1900" dirty="0"/>
          </a:p>
          <a:p>
            <a:pPr marL="0" indent="0" algn="l">
              <a:buNone/>
            </a:pPr>
            <a:r>
              <a:rPr lang="en-US" sz="190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 NO RELEASE</a:t>
            </a:r>
            <a:endParaRPr lang="en-US" sz="1900" dirty="0"/>
          </a:p>
        </p:txBody>
      </p:sp>
      <p:sp>
        <p:nvSpPr>
          <p:cNvPr id="43" name="Shape 41"/>
          <p:cNvSpPr/>
          <p:nvPr/>
        </p:nvSpPr>
        <p:spPr>
          <a:xfrm>
            <a:off x="7534656" y="3273552"/>
            <a:ext cx="3730752" cy="0"/>
          </a:xfrm>
          <a:prstGeom prst="line">
            <a:avLst/>
          </a:prstGeom>
          <a:noFill/>
          <a:ln w="12700">
            <a:solidFill>
              <a:srgbClr val="29465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SG"/>
          </a:p>
        </p:txBody>
      </p:sp>
      <p:sp>
        <p:nvSpPr>
          <p:cNvPr id="44" name="Shape 42"/>
          <p:cNvSpPr/>
          <p:nvPr/>
        </p:nvSpPr>
        <p:spPr>
          <a:xfrm>
            <a:off x="7534656" y="3566160"/>
            <a:ext cx="356616" cy="256032"/>
          </a:xfrm>
          <a:prstGeom prst="roundRect">
            <a:avLst>
              <a:gd name="adj" fmla="val 50000"/>
            </a:avLst>
          </a:prstGeom>
          <a:solidFill>
            <a:srgbClr val="22DDF6"/>
          </a:solidFill>
          <a:ln w="12700">
            <a:solidFill>
              <a:srgbClr val="22DD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5" name="Text 43"/>
          <p:cNvSpPr/>
          <p:nvPr/>
        </p:nvSpPr>
        <p:spPr>
          <a:xfrm>
            <a:off x="7607808" y="3575304"/>
            <a:ext cx="21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70" dirty="0">
                <a:solidFill>
                  <a:srgbClr val="06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8065008" y="3602736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 VEHICLE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7534656" y="4005072"/>
            <a:ext cx="356616" cy="256032"/>
          </a:xfrm>
          <a:prstGeom prst="roundRect">
            <a:avLst>
              <a:gd name="adj" fmla="val 50000"/>
            </a:avLst>
          </a:prstGeom>
          <a:solidFill>
            <a:srgbClr val="F4C75D"/>
          </a:solidFill>
          <a:ln w="12700">
            <a:solidFill>
              <a:srgbClr val="F4C75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8" name="Text 46"/>
          <p:cNvSpPr/>
          <p:nvPr/>
        </p:nvSpPr>
        <p:spPr>
          <a:xfrm>
            <a:off x="7607808" y="4014216"/>
            <a:ext cx="21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70" dirty="0">
                <a:solidFill>
                  <a:srgbClr val="06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8065008" y="4041648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THE AMOUNT</a:t>
            </a:r>
            <a:endParaRPr lang="en-US" sz="780" dirty="0"/>
          </a:p>
        </p:txBody>
      </p:sp>
      <p:sp>
        <p:nvSpPr>
          <p:cNvPr id="50" name="Shape 48"/>
          <p:cNvSpPr/>
          <p:nvPr/>
        </p:nvSpPr>
        <p:spPr>
          <a:xfrm>
            <a:off x="7534656" y="4443984"/>
            <a:ext cx="356616" cy="256032"/>
          </a:xfrm>
          <a:prstGeom prst="roundRect">
            <a:avLst>
              <a:gd name="adj" fmla="val 50000"/>
            </a:avLst>
          </a:prstGeom>
          <a:solidFill>
            <a:srgbClr val="37D6AA"/>
          </a:solidFill>
          <a:ln w="12700">
            <a:solidFill>
              <a:srgbClr val="37D6A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1" name="Text 49"/>
          <p:cNvSpPr/>
          <p:nvPr/>
        </p:nvSpPr>
        <p:spPr>
          <a:xfrm>
            <a:off x="7607808" y="4453128"/>
            <a:ext cx="21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70" dirty="0">
                <a:solidFill>
                  <a:srgbClr val="06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8065008" y="4480560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PAYMENT STATE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7534656" y="4882896"/>
            <a:ext cx="356616" cy="256032"/>
          </a:xfrm>
          <a:prstGeom prst="roundRect">
            <a:avLst>
              <a:gd name="adj" fmla="val 50000"/>
            </a:avLst>
          </a:prstGeom>
          <a:solidFill>
            <a:srgbClr val="FF6472"/>
          </a:solidFill>
          <a:ln w="12700">
            <a:solidFill>
              <a:srgbClr val="FF647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4" name="Text 52"/>
          <p:cNvSpPr/>
          <p:nvPr/>
        </p:nvSpPr>
        <p:spPr>
          <a:xfrm>
            <a:off x="7607808" y="4892040"/>
            <a:ext cx="210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70" dirty="0">
                <a:solidFill>
                  <a:srgbClr val="06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8065008" y="491947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80" b="1" dirty="0">
                <a:solidFill>
                  <a:srgbClr val="F6FA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BLOCK DUPLICATES</a:t>
            </a:r>
            <a:endParaRPr lang="en-US" sz="780" dirty="0"/>
          </a:p>
        </p:txBody>
      </p:sp>
      <p:sp>
        <p:nvSpPr>
          <p:cNvPr id="56" name="Shape 54"/>
          <p:cNvSpPr/>
          <p:nvPr/>
        </p:nvSpPr>
        <p:spPr>
          <a:xfrm>
            <a:off x="7534656" y="5289804"/>
            <a:ext cx="3456432" cy="320040"/>
          </a:xfrm>
          <a:prstGeom prst="roundRect">
            <a:avLst>
              <a:gd name="adj" fmla="val 20000"/>
            </a:avLst>
          </a:prstGeom>
          <a:solidFill>
            <a:srgbClr val="143247"/>
          </a:solidFill>
          <a:ln w="12700">
            <a:solidFill>
              <a:srgbClr val="235470"/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7" name="Text 55"/>
          <p:cNvSpPr/>
          <p:nvPr/>
        </p:nvSpPr>
        <p:spPr>
          <a:xfrm>
            <a:off x="7635240" y="5353812"/>
            <a:ext cx="32552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10" b="1" kern="0" spc="60" dirty="0">
                <a:solidFill>
                  <a:srgbClr val="FF647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GHOST PAYMENTS → BLOCKED</a:t>
            </a:r>
            <a:endParaRPr lang="en-US" sz="710" dirty="0"/>
          </a:p>
        </p:txBody>
      </p:sp>
      <p:sp>
        <p:nvSpPr>
          <p:cNvPr id="58" name="Shape 56"/>
          <p:cNvSpPr/>
          <p:nvPr/>
        </p:nvSpPr>
        <p:spPr>
          <a:xfrm>
            <a:off x="4892040" y="6163056"/>
            <a:ext cx="2331720" cy="256032"/>
          </a:xfrm>
          <a:prstGeom prst="roundRect">
            <a:avLst>
              <a:gd name="adj" fmla="val 50000"/>
            </a:avLst>
          </a:prstGeom>
          <a:solidFill>
            <a:srgbClr val="22DDF6"/>
          </a:solidFill>
          <a:ln w="12700">
            <a:solidFill>
              <a:srgbClr val="22DD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9" name="Text 57"/>
          <p:cNvSpPr/>
          <p:nvPr/>
        </p:nvSpPr>
        <p:spPr>
          <a:xfrm>
            <a:off x="4965192" y="6172200"/>
            <a:ext cx="2185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kern="0" spc="70" dirty="0">
                <a:solidFill>
                  <a:srgbClr val="0611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+ TRUST</a:t>
            </a:r>
            <a:endParaRPr lang="en-US" sz="750" dirty="0"/>
          </a:p>
        </p:txBody>
      </p:sp>
      <p:sp>
        <p:nvSpPr>
          <p:cNvPr id="6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47395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700">
                <a:solidFill>
                  <a:srgbClr val="5D738A"/>
                </a:solidFill>
                <a:latin typeface="Arial"/>
                <a:ea typeface="Arial"/>
                <a:cs typeface="Arial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69FCA3E2-A591-EE52-C890-4C706869BB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725" t="18250" r="25075" b="18186"/>
          <a:stretch>
            <a:fillRect/>
          </a:stretch>
        </p:blipFill>
        <p:spPr>
          <a:xfrm>
            <a:off x="10206042" y="130928"/>
            <a:ext cx="1832571" cy="12913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kern="0" spc="110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· SAFETY + ENERGY AUTOMATION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rules are policies, not suggestions.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 events trigger ventilation automatically; light control follows simulator time and activity, with manual interlocks preventing unsafe actions.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810512"/>
            <a:ext cx="5486400" cy="4041648"/>
          </a:xfrm>
          <a:prstGeom prst="roundRect">
            <a:avLst>
              <a:gd name="adj" fmla="val 1810"/>
            </a:avLst>
          </a:prstGeom>
          <a:solidFill>
            <a:srgbClr val="101B2D"/>
          </a:solidFill>
          <a:ln w="12700">
            <a:solidFill>
              <a:srgbClr val="26364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Text 4"/>
          <p:cNvSpPr/>
          <p:nvPr/>
        </p:nvSpPr>
        <p:spPr>
          <a:xfrm>
            <a:off x="804672" y="201168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 RESPONSE LADDER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822960" y="2441448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0F2F25"/>
          </a:solidFill>
          <a:ln w="12700">
            <a:solidFill>
              <a:srgbClr val="0F2F2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8" name="Text 6"/>
          <p:cNvSpPr/>
          <p:nvPr/>
        </p:nvSpPr>
        <p:spPr>
          <a:xfrm>
            <a:off x="877824" y="2468880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86EF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</a:t>
            </a:r>
            <a:endParaRPr lang="en-US" sz="670" dirty="0"/>
          </a:p>
        </p:txBody>
      </p:sp>
      <p:sp>
        <p:nvSpPr>
          <p:cNvPr id="9" name="Text 7"/>
          <p:cNvSpPr/>
          <p:nvPr/>
        </p:nvSpPr>
        <p:spPr>
          <a:xfrm>
            <a:off x="1901952" y="2441448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ventilation action; resolve old alert</a:t>
            </a:r>
            <a:endParaRPr lang="en-US" sz="860" dirty="0"/>
          </a:p>
        </p:txBody>
      </p:sp>
      <p:sp>
        <p:nvSpPr>
          <p:cNvPr id="10" name="Shape 8"/>
          <p:cNvSpPr/>
          <p:nvPr/>
        </p:nvSpPr>
        <p:spPr>
          <a:xfrm>
            <a:off x="1234440" y="2715768"/>
            <a:ext cx="0" cy="3657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822960" y="3145536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3B2A10"/>
          </a:solidFill>
          <a:ln w="12700">
            <a:solidFill>
              <a:srgbClr val="3B2A1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Text 10"/>
          <p:cNvSpPr/>
          <p:nvPr/>
        </p:nvSpPr>
        <p:spPr>
          <a:xfrm>
            <a:off x="877824" y="3172968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</a:t>
            </a:r>
            <a:endParaRPr lang="en-US" sz="670" dirty="0"/>
          </a:p>
        </p:txBody>
      </p:sp>
      <p:sp>
        <p:nvSpPr>
          <p:cNvPr id="13" name="Text 11"/>
          <p:cNvSpPr/>
          <p:nvPr/>
        </p:nvSpPr>
        <p:spPr>
          <a:xfrm>
            <a:off x="1901952" y="3145536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Healthy fans ON</a:t>
            </a:r>
            <a:endParaRPr lang="en-US" sz="860" dirty="0"/>
          </a:p>
        </p:txBody>
      </p:sp>
      <p:sp>
        <p:nvSpPr>
          <p:cNvPr id="14" name="Shape 12"/>
          <p:cNvSpPr/>
          <p:nvPr/>
        </p:nvSpPr>
        <p:spPr>
          <a:xfrm>
            <a:off x="1234440" y="3419856"/>
            <a:ext cx="0" cy="3657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MY"/>
          </a:p>
        </p:txBody>
      </p:sp>
      <p:sp>
        <p:nvSpPr>
          <p:cNvPr id="15" name="Shape 13"/>
          <p:cNvSpPr/>
          <p:nvPr/>
        </p:nvSpPr>
        <p:spPr>
          <a:xfrm>
            <a:off x="822960" y="3849624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3A171B"/>
          </a:solidFill>
          <a:ln w="12700">
            <a:solidFill>
              <a:srgbClr val="3A171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6" name="Text 14"/>
          <p:cNvSpPr/>
          <p:nvPr/>
        </p:nvSpPr>
        <p:spPr>
          <a:xfrm>
            <a:off x="877824" y="3877056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F87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</a:t>
            </a:r>
            <a:endParaRPr lang="en-US" sz="670" dirty="0"/>
          </a:p>
        </p:txBody>
      </p:sp>
      <p:sp>
        <p:nvSpPr>
          <p:cNvPr id="17" name="Text 15"/>
          <p:cNvSpPr/>
          <p:nvPr/>
        </p:nvSpPr>
        <p:spPr>
          <a:xfrm>
            <a:off x="1901952" y="3849624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alert + fans ON</a:t>
            </a:r>
            <a:endParaRPr lang="en-US" sz="860" dirty="0"/>
          </a:p>
        </p:txBody>
      </p:sp>
      <p:sp>
        <p:nvSpPr>
          <p:cNvPr id="18" name="Shape 16"/>
          <p:cNvSpPr/>
          <p:nvPr/>
        </p:nvSpPr>
        <p:spPr>
          <a:xfrm>
            <a:off x="1234440" y="4123944"/>
            <a:ext cx="0" cy="36576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MY"/>
          </a:p>
        </p:txBody>
      </p:sp>
      <p:sp>
        <p:nvSpPr>
          <p:cNvPr id="19" name="Shape 17"/>
          <p:cNvSpPr/>
          <p:nvPr/>
        </p:nvSpPr>
        <p:spPr>
          <a:xfrm>
            <a:off x="822960" y="4553712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3A171B"/>
          </a:solidFill>
          <a:ln w="12700">
            <a:solidFill>
              <a:srgbClr val="3A171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0" name="Text 18"/>
          <p:cNvSpPr/>
          <p:nvPr/>
        </p:nvSpPr>
        <p:spPr>
          <a:xfrm>
            <a:off x="877824" y="4581144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F87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</a:t>
            </a:r>
            <a:endParaRPr lang="en-US" sz="670" dirty="0"/>
          </a:p>
        </p:txBody>
      </p:sp>
      <p:sp>
        <p:nvSpPr>
          <p:cNvPr id="21" name="Text 19"/>
          <p:cNvSpPr/>
          <p:nvPr/>
        </p:nvSpPr>
        <p:spPr>
          <a:xfrm>
            <a:off x="1901952" y="4553712"/>
            <a:ext cx="3611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alert + preserve ventilation capacity</a:t>
            </a:r>
            <a:endParaRPr lang="en-US" sz="860" dirty="0"/>
          </a:p>
        </p:txBody>
      </p:sp>
      <p:sp>
        <p:nvSpPr>
          <p:cNvPr id="22" name="Shape 20"/>
          <p:cNvSpPr/>
          <p:nvPr/>
        </p:nvSpPr>
        <p:spPr>
          <a:xfrm>
            <a:off x="822960" y="5257800"/>
            <a:ext cx="4974336" cy="374904"/>
          </a:xfrm>
          <a:prstGeom prst="roundRect">
            <a:avLst>
              <a:gd name="adj" fmla="val 19512"/>
            </a:avLst>
          </a:prstGeom>
          <a:solidFill>
            <a:srgbClr val="0A1424"/>
          </a:solidFill>
          <a:ln w="12700">
            <a:solidFill>
              <a:srgbClr val="26364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3" name="Text 21"/>
          <p:cNvSpPr/>
          <p:nvPr/>
        </p:nvSpPr>
        <p:spPr>
          <a:xfrm>
            <a:off x="932688" y="5358384"/>
            <a:ext cx="473659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healthy fan available → raise a separate critical “NO HEALTHY EXHAUST FAN” alert.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6327648" y="1810512"/>
            <a:ext cx="5312664" cy="4041648"/>
          </a:xfrm>
          <a:prstGeom prst="roundRect">
            <a:avLst>
              <a:gd name="adj" fmla="val 1810"/>
            </a:avLst>
          </a:prstGeom>
          <a:solidFill>
            <a:srgbClr val="101B2D"/>
          </a:solidFill>
          <a:ln w="12700">
            <a:solidFill>
              <a:srgbClr val="26364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3"/>
          <p:cNvSpPr/>
          <p:nvPr/>
        </p:nvSpPr>
        <p:spPr>
          <a:xfrm>
            <a:off x="6583680" y="201168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 POLICY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729984" y="2587752"/>
            <a:ext cx="960120" cy="960120"/>
          </a:xfrm>
          <a:prstGeom prst="ellipse">
            <a:avLst/>
          </a:prstGeom>
          <a:solidFill>
            <a:srgbClr val="16243A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7" name="Text 25"/>
          <p:cNvSpPr/>
          <p:nvPr/>
        </p:nvSpPr>
        <p:spPr>
          <a:xfrm>
            <a:off x="6967728" y="2907792"/>
            <a:ext cx="475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7808976" y="3063240"/>
            <a:ext cx="804672" cy="0"/>
          </a:xfrm>
          <a:prstGeom prst="line">
            <a:avLst/>
          </a:prstGeom>
          <a:noFill/>
          <a:ln w="19050">
            <a:solidFill>
              <a:srgbClr val="67E8F9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29" name="Shape 27"/>
          <p:cNvSpPr/>
          <p:nvPr/>
        </p:nvSpPr>
        <p:spPr>
          <a:xfrm>
            <a:off x="8723376" y="2587752"/>
            <a:ext cx="960120" cy="960120"/>
          </a:xfrm>
          <a:prstGeom prst="ellipse">
            <a:avLst/>
          </a:prstGeom>
          <a:solidFill>
            <a:srgbClr val="222036"/>
          </a:solidFill>
          <a:ln w="12700">
            <a:solidFill>
              <a:srgbClr val="4C1D9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Text 28"/>
          <p:cNvSpPr/>
          <p:nvPr/>
        </p:nvSpPr>
        <p:spPr>
          <a:xfrm>
            <a:off x="8897112" y="2907792"/>
            <a:ext cx="6309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NIGHT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702552" y="3749040"/>
            <a:ext cx="4343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06:00–18:00 default day window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702552" y="4151376"/>
            <a:ext cx="4343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4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Night + active zone → lights ON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Day → lights OFF</a:t>
            </a:r>
            <a:endParaRPr lang="en-US" sz="840" dirty="0"/>
          </a:p>
          <a:p>
            <a:pPr marL="0" indent="0" algn="l">
              <a:buNone/>
            </a:pPr>
            <a:r>
              <a:rPr lang="en-US" sz="84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ON during daytime → BLOCKED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8119872" y="5230368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082F49"/>
          </a:solidFill>
          <a:ln w="10160">
            <a:solidFill>
              <a:srgbClr val="0E749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4" name="Text 32"/>
          <p:cNvSpPr/>
          <p:nvPr/>
        </p:nvSpPr>
        <p:spPr>
          <a:xfrm>
            <a:off x="8183880" y="5271516"/>
            <a:ext cx="7680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INTERLOCK</a:t>
            </a:r>
            <a:endParaRPr lang="en-US" sz="720" dirty="0"/>
          </a:p>
        </p:txBody>
      </p:sp>
      <p:sp>
        <p:nvSpPr>
          <p:cNvPr id="35" name="Text 33"/>
          <p:cNvSpPr/>
          <p:nvPr/>
        </p:nvSpPr>
        <p:spPr>
          <a:xfrm>
            <a:off x="6812280" y="5605272"/>
            <a:ext cx="4480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Broken / under-maintenance components are skipped by policy actions.</a:t>
            </a:r>
            <a:endParaRPr lang="en-US" sz="7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B7C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6807C4EC-157A-A619-DF53-0C0CC5E8654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725" t="18250" r="25075" b="18186"/>
          <a:stretch>
            <a:fillRect/>
          </a:stretch>
        </p:blipFill>
        <p:spPr>
          <a:xfrm>
            <a:off x="10206042" y="130928"/>
            <a:ext cx="1832571" cy="12913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474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b="1" kern="0" spc="110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 · PREVENTIVE MAINTENANCE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566928" y="621792"/>
            <a:ext cx="10972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what the simulator tells us. Repair only when it is safe.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66928" y="1170432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maintenance flow separates “predictive signal” from “safe to repair now,” then records command and completion as a lifecycle.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21792" y="1828800"/>
            <a:ext cx="2084832" cy="1188720"/>
          </a:xfrm>
          <a:prstGeom prst="roundRect">
            <a:avLst>
              <a:gd name="adj" fmla="val 6154"/>
            </a:avLst>
          </a:prstGeom>
          <a:solidFill>
            <a:srgbClr val="101B2D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" name="Shape 4"/>
          <p:cNvSpPr/>
          <p:nvPr/>
        </p:nvSpPr>
        <p:spPr>
          <a:xfrm>
            <a:off x="749808" y="1975104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0A1424"/>
          </a:solidFill>
          <a:ln w="12700">
            <a:solidFill>
              <a:srgbClr val="0A14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" name="Text 5"/>
          <p:cNvSpPr/>
          <p:nvPr/>
        </p:nvSpPr>
        <p:spPr>
          <a:xfrm>
            <a:off x="804672" y="2002536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38BD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670" dirty="0"/>
          </a:p>
        </p:txBody>
      </p:sp>
      <p:sp>
        <p:nvSpPr>
          <p:cNvPr id="8" name="Text 6"/>
          <p:cNvSpPr/>
          <p:nvPr/>
        </p:nvSpPr>
        <p:spPr>
          <a:xfrm>
            <a:off x="749808" y="230428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60604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cycles · runtime · API life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724912" y="2423160"/>
            <a:ext cx="246888" cy="0"/>
          </a:xfrm>
          <a:prstGeom prst="line">
            <a:avLst/>
          </a:prstGeom>
          <a:noFill/>
          <a:ln w="20320">
            <a:solidFill>
              <a:srgbClr val="67E8F9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11" name="Shape 9"/>
          <p:cNvSpPr/>
          <p:nvPr/>
        </p:nvSpPr>
        <p:spPr>
          <a:xfrm>
            <a:off x="2935224" y="1828800"/>
            <a:ext cx="2084832" cy="1188720"/>
          </a:xfrm>
          <a:prstGeom prst="roundRect">
            <a:avLst>
              <a:gd name="adj" fmla="val 6154"/>
            </a:avLst>
          </a:prstGeom>
          <a:solidFill>
            <a:srgbClr val="101B2D"/>
          </a:solidFill>
          <a:ln w="12700">
            <a:solidFill>
              <a:srgbClr val="FBBF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2" name="Shape 10"/>
          <p:cNvSpPr/>
          <p:nvPr/>
        </p:nvSpPr>
        <p:spPr>
          <a:xfrm>
            <a:off x="3063240" y="1975104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0A1424"/>
          </a:solidFill>
          <a:ln w="12700">
            <a:solidFill>
              <a:srgbClr val="0A14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3" name="Text 11"/>
          <p:cNvSpPr/>
          <p:nvPr/>
        </p:nvSpPr>
        <p:spPr>
          <a:xfrm>
            <a:off x="3118104" y="2002536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670" dirty="0"/>
          </a:p>
        </p:txBody>
      </p:sp>
      <p:sp>
        <p:nvSpPr>
          <p:cNvPr id="14" name="Text 12"/>
          <p:cNvSpPr/>
          <p:nvPr/>
        </p:nvSpPr>
        <p:spPr>
          <a:xfrm>
            <a:off x="3063240" y="230428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063240" y="260604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simulator maintenance alarm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5038344" y="2423160"/>
            <a:ext cx="246888" cy="0"/>
          </a:xfrm>
          <a:prstGeom prst="line">
            <a:avLst/>
          </a:prstGeom>
          <a:noFill/>
          <a:ln w="20320">
            <a:solidFill>
              <a:srgbClr val="67E8F9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17" name="Shape 15"/>
          <p:cNvSpPr/>
          <p:nvPr/>
        </p:nvSpPr>
        <p:spPr>
          <a:xfrm>
            <a:off x="5248656" y="1828800"/>
            <a:ext cx="2084832" cy="1188720"/>
          </a:xfrm>
          <a:prstGeom prst="roundRect">
            <a:avLst>
              <a:gd name="adj" fmla="val 6154"/>
            </a:avLst>
          </a:prstGeom>
          <a:solidFill>
            <a:srgbClr val="101B2D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8" name="Shape 16"/>
          <p:cNvSpPr/>
          <p:nvPr/>
        </p:nvSpPr>
        <p:spPr>
          <a:xfrm>
            <a:off x="5376672" y="1975104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0A1424"/>
          </a:solidFill>
          <a:ln w="12700">
            <a:solidFill>
              <a:srgbClr val="0A14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19" name="Text 17"/>
          <p:cNvSpPr/>
          <p:nvPr/>
        </p:nvSpPr>
        <p:spPr>
          <a:xfrm>
            <a:off x="5431536" y="2002536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670" dirty="0"/>
          </a:p>
        </p:txBody>
      </p:sp>
      <p:sp>
        <p:nvSpPr>
          <p:cNvPr id="20" name="Text 18"/>
          <p:cNvSpPr/>
          <p:nvPr/>
        </p:nvSpPr>
        <p:spPr>
          <a:xfrm>
            <a:off x="5376672" y="230428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76672" y="260604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interlock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351776" y="2423160"/>
            <a:ext cx="246888" cy="0"/>
          </a:xfrm>
          <a:prstGeom prst="line">
            <a:avLst/>
          </a:prstGeom>
          <a:noFill/>
          <a:ln w="20320">
            <a:solidFill>
              <a:srgbClr val="67E8F9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23" name="Shape 21"/>
          <p:cNvSpPr/>
          <p:nvPr/>
        </p:nvSpPr>
        <p:spPr>
          <a:xfrm>
            <a:off x="7562088" y="1828800"/>
            <a:ext cx="2084832" cy="1188720"/>
          </a:xfrm>
          <a:prstGeom prst="roundRect">
            <a:avLst>
              <a:gd name="adj" fmla="val 6154"/>
            </a:avLst>
          </a:prstGeom>
          <a:solidFill>
            <a:srgbClr val="101B2D"/>
          </a:solidFill>
          <a:ln w="12700">
            <a:solidFill>
              <a:srgbClr val="67E8F9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4" name="Shape 22"/>
          <p:cNvSpPr/>
          <p:nvPr/>
        </p:nvSpPr>
        <p:spPr>
          <a:xfrm>
            <a:off x="7690104" y="1975104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0A1424"/>
          </a:solidFill>
          <a:ln w="12700">
            <a:solidFill>
              <a:srgbClr val="0A14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25" name="Text 23"/>
          <p:cNvSpPr/>
          <p:nvPr/>
        </p:nvSpPr>
        <p:spPr>
          <a:xfrm>
            <a:off x="7744968" y="2002536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670" dirty="0"/>
          </a:p>
        </p:txBody>
      </p:sp>
      <p:sp>
        <p:nvSpPr>
          <p:cNvPr id="26" name="Text 24"/>
          <p:cNvSpPr/>
          <p:nvPr/>
        </p:nvSpPr>
        <p:spPr>
          <a:xfrm>
            <a:off x="7690104" y="230428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Repair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690104" y="260604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send one command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9665208" y="2423160"/>
            <a:ext cx="246888" cy="0"/>
          </a:xfrm>
          <a:prstGeom prst="line">
            <a:avLst/>
          </a:prstGeom>
          <a:noFill/>
          <a:ln w="20320">
            <a:solidFill>
              <a:srgbClr val="67E8F9"/>
            </a:solidFill>
            <a:prstDash val="solid"/>
            <a:tailEnd type="triangle"/>
          </a:ln>
        </p:spPr>
        <p:txBody>
          <a:bodyPr/>
          <a:lstStyle/>
          <a:p>
            <a:endParaRPr lang="en-MY"/>
          </a:p>
        </p:txBody>
      </p:sp>
      <p:sp>
        <p:nvSpPr>
          <p:cNvPr id="29" name="Shape 27"/>
          <p:cNvSpPr/>
          <p:nvPr/>
        </p:nvSpPr>
        <p:spPr>
          <a:xfrm>
            <a:off x="9875520" y="1828800"/>
            <a:ext cx="2084832" cy="1188720"/>
          </a:xfrm>
          <a:prstGeom prst="roundRect">
            <a:avLst>
              <a:gd name="adj" fmla="val 6154"/>
            </a:avLst>
          </a:prstGeom>
          <a:solidFill>
            <a:srgbClr val="101B2D"/>
          </a:solidFill>
          <a:ln w="12700">
            <a:solidFill>
              <a:srgbClr val="86EFAC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0" name="Shape 28"/>
          <p:cNvSpPr/>
          <p:nvPr/>
        </p:nvSpPr>
        <p:spPr>
          <a:xfrm>
            <a:off x="10003536" y="1975104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0A1424"/>
          </a:solidFill>
          <a:ln w="12700">
            <a:solidFill>
              <a:srgbClr val="0A1424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1" name="Text 29"/>
          <p:cNvSpPr/>
          <p:nvPr/>
        </p:nvSpPr>
        <p:spPr>
          <a:xfrm>
            <a:off x="10058400" y="2002536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86EF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670" dirty="0"/>
          </a:p>
        </p:txBody>
      </p:sp>
      <p:sp>
        <p:nvSpPr>
          <p:cNvPr id="32" name="Text 30"/>
          <p:cNvSpPr/>
          <p:nvPr/>
        </p:nvSpPr>
        <p:spPr>
          <a:xfrm>
            <a:off x="10003536" y="2304288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03536" y="2606040"/>
            <a:ext cx="16916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component_fixed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621792" y="336499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67E8F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INTERLOCKS BEFORE REPAIR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58368" y="3721608"/>
            <a:ext cx="3767328" cy="329184"/>
          </a:xfrm>
          <a:prstGeom prst="roundRect">
            <a:avLst>
              <a:gd name="adj" fmla="val 22222"/>
            </a:avLst>
          </a:prstGeom>
          <a:solidFill>
            <a:srgbClr val="0A1424"/>
          </a:solidFill>
          <a:ln w="12700">
            <a:solidFill>
              <a:srgbClr val="26364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6" name="Text 34"/>
          <p:cNvSpPr/>
          <p:nvPr/>
        </p:nvSpPr>
        <p:spPr>
          <a:xfrm>
            <a:off x="804672" y="379476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Parking spot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1901952" y="3794760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86EF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must be free + unreserved</a:t>
            </a:r>
            <a:endParaRPr lang="en-US" sz="720" dirty="0"/>
          </a:p>
        </p:txBody>
      </p:sp>
      <p:sp>
        <p:nvSpPr>
          <p:cNvPr id="38" name="Shape 36"/>
          <p:cNvSpPr/>
          <p:nvPr/>
        </p:nvSpPr>
        <p:spPr>
          <a:xfrm>
            <a:off x="658368" y="4160520"/>
            <a:ext cx="3767328" cy="329184"/>
          </a:xfrm>
          <a:prstGeom prst="roundRect">
            <a:avLst>
              <a:gd name="adj" fmla="val 22222"/>
            </a:avLst>
          </a:prstGeom>
          <a:solidFill>
            <a:srgbClr val="0A1424"/>
          </a:solidFill>
          <a:ln w="12700">
            <a:solidFill>
              <a:srgbClr val="26364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39" name="Text 37"/>
          <p:cNvSpPr/>
          <p:nvPr/>
        </p:nvSpPr>
        <p:spPr>
          <a:xfrm>
            <a:off x="804672" y="423367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901952" y="4233672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must be idle + closed unless already broken</a:t>
            </a:r>
            <a:endParaRPr lang="en-US" sz="720" dirty="0"/>
          </a:p>
        </p:txBody>
      </p:sp>
      <p:sp>
        <p:nvSpPr>
          <p:cNvPr id="41" name="Shape 39"/>
          <p:cNvSpPr/>
          <p:nvPr/>
        </p:nvSpPr>
        <p:spPr>
          <a:xfrm>
            <a:off x="658368" y="4599432"/>
            <a:ext cx="3767328" cy="329184"/>
          </a:xfrm>
          <a:prstGeom prst="roundRect">
            <a:avLst>
              <a:gd name="adj" fmla="val 22222"/>
            </a:avLst>
          </a:prstGeom>
          <a:solidFill>
            <a:srgbClr val="0A1424"/>
          </a:solidFill>
          <a:ln w="12700">
            <a:solidFill>
              <a:srgbClr val="26364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2" name="Text 40"/>
          <p:cNvSpPr/>
          <p:nvPr/>
        </p:nvSpPr>
        <p:spPr>
          <a:xfrm>
            <a:off x="804672" y="467258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Fan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1901952" y="4672584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F87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must be off + zone not in CO danger</a:t>
            </a:r>
            <a:endParaRPr lang="en-US" sz="720" dirty="0"/>
          </a:p>
        </p:txBody>
      </p:sp>
      <p:sp>
        <p:nvSpPr>
          <p:cNvPr id="44" name="Shape 42"/>
          <p:cNvSpPr/>
          <p:nvPr/>
        </p:nvSpPr>
        <p:spPr>
          <a:xfrm>
            <a:off x="658368" y="5038344"/>
            <a:ext cx="3767328" cy="329184"/>
          </a:xfrm>
          <a:prstGeom prst="roundRect">
            <a:avLst>
              <a:gd name="adj" fmla="val 22222"/>
            </a:avLst>
          </a:prstGeom>
          <a:solidFill>
            <a:srgbClr val="0A1424"/>
          </a:solidFill>
          <a:ln w="12700">
            <a:solidFill>
              <a:srgbClr val="26364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5" name="Text 43"/>
          <p:cNvSpPr/>
          <p:nvPr/>
        </p:nvSpPr>
        <p:spPr>
          <a:xfrm>
            <a:off x="804672" y="5111496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901952" y="5111496"/>
            <a:ext cx="2267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documented repair endpoint in simulator</a:t>
            </a:r>
            <a:endParaRPr lang="en-US" sz="720" dirty="0"/>
          </a:p>
        </p:txBody>
      </p:sp>
      <p:sp>
        <p:nvSpPr>
          <p:cNvPr id="47" name="Shape 45"/>
          <p:cNvSpPr/>
          <p:nvPr/>
        </p:nvSpPr>
        <p:spPr>
          <a:xfrm>
            <a:off x="4736592" y="3364992"/>
            <a:ext cx="6885432" cy="2194560"/>
          </a:xfrm>
          <a:prstGeom prst="roundRect">
            <a:avLst>
              <a:gd name="adj" fmla="val 3333"/>
            </a:avLst>
          </a:prstGeom>
          <a:solidFill>
            <a:srgbClr val="101B2D"/>
          </a:solidFill>
          <a:ln w="12700">
            <a:solidFill>
              <a:srgbClr val="26364E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48" name="Text 46"/>
          <p:cNvSpPr/>
          <p:nvPr/>
        </p:nvSpPr>
        <p:spPr>
          <a:xfrm>
            <a:off x="4983480" y="3575304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kern="0" spc="100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MAINTENANCE QUEUE VIEW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992624" y="3959352"/>
            <a:ext cx="713232" cy="219456"/>
          </a:xfrm>
          <a:prstGeom prst="roundRect">
            <a:avLst>
              <a:gd name="adj" fmla="val 50000"/>
            </a:avLst>
          </a:prstGeom>
          <a:solidFill>
            <a:srgbClr val="3A171B"/>
          </a:solidFill>
          <a:ln w="12700">
            <a:solidFill>
              <a:srgbClr val="3A171B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0" name="Text 48"/>
          <p:cNvSpPr/>
          <p:nvPr/>
        </p:nvSpPr>
        <p:spPr>
          <a:xfrm>
            <a:off x="5047488" y="3986784"/>
            <a:ext cx="6035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F871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URGENT</a:t>
            </a:r>
            <a:endParaRPr lang="en-US" sz="670" dirty="0"/>
          </a:p>
        </p:txBody>
      </p:sp>
      <p:sp>
        <p:nvSpPr>
          <p:cNvPr id="51" name="Text 49"/>
          <p:cNvSpPr/>
          <p:nvPr/>
        </p:nvSpPr>
        <p:spPr>
          <a:xfrm>
            <a:off x="6236208" y="395935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G-07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7114032" y="395935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</a:t>
            </a:r>
            <a:endParaRPr lang="en-US" sz="750" dirty="0"/>
          </a:p>
        </p:txBody>
      </p:sp>
      <p:sp>
        <p:nvSpPr>
          <p:cNvPr id="53" name="Text 51"/>
          <p:cNvSpPr/>
          <p:nvPr/>
        </p:nvSpPr>
        <p:spPr>
          <a:xfrm>
            <a:off x="7882128" y="3959352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Repair pending</a:t>
            </a:r>
            <a:endParaRPr lang="en-US" sz="720" dirty="0"/>
          </a:p>
        </p:txBody>
      </p:sp>
      <p:sp>
        <p:nvSpPr>
          <p:cNvPr id="54" name="Shape 52"/>
          <p:cNvSpPr/>
          <p:nvPr/>
        </p:nvSpPr>
        <p:spPr>
          <a:xfrm>
            <a:off x="4992624" y="4306824"/>
            <a:ext cx="749808" cy="219456"/>
          </a:xfrm>
          <a:prstGeom prst="roundRect">
            <a:avLst>
              <a:gd name="adj" fmla="val 50000"/>
            </a:avLst>
          </a:prstGeom>
          <a:solidFill>
            <a:srgbClr val="3B2A10"/>
          </a:solidFill>
          <a:ln w="12700">
            <a:solidFill>
              <a:srgbClr val="3B2A10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55" name="Text 53"/>
          <p:cNvSpPr/>
          <p:nvPr/>
        </p:nvSpPr>
        <p:spPr>
          <a:xfrm>
            <a:off x="5047488" y="4334256"/>
            <a:ext cx="640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FBBF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PREVENTIVE</a:t>
            </a:r>
            <a:endParaRPr lang="en-US" sz="670" dirty="0"/>
          </a:p>
        </p:txBody>
      </p:sp>
      <p:sp>
        <p:nvSpPr>
          <p:cNvPr id="56" name="Text 54"/>
          <p:cNvSpPr/>
          <p:nvPr/>
        </p:nvSpPr>
        <p:spPr>
          <a:xfrm>
            <a:off x="6236208" y="430682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FAN-12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7114032" y="4306824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Fan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882128" y="4306824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Wait for safe ventilation window</a:t>
            </a:r>
            <a:endParaRPr lang="en-US" sz="720" dirty="0"/>
          </a:p>
        </p:txBody>
      </p:sp>
      <p:sp>
        <p:nvSpPr>
          <p:cNvPr id="59" name="Shape 57"/>
          <p:cNvSpPr/>
          <p:nvPr/>
        </p:nvSpPr>
        <p:spPr>
          <a:xfrm>
            <a:off x="4992624" y="4654296"/>
            <a:ext cx="969264" cy="219456"/>
          </a:xfrm>
          <a:prstGeom prst="roundRect">
            <a:avLst>
              <a:gd name="adj" fmla="val 50000"/>
            </a:avLst>
          </a:prstGeom>
          <a:solidFill>
            <a:srgbClr val="0F2F25"/>
          </a:solidFill>
          <a:ln w="12700">
            <a:solidFill>
              <a:srgbClr val="0F2F25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0" name="Text 58"/>
          <p:cNvSpPr/>
          <p:nvPr/>
        </p:nvSpPr>
        <p:spPr>
          <a:xfrm>
            <a:off x="5047488" y="4681728"/>
            <a:ext cx="8595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86EF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TO REPAIR</a:t>
            </a:r>
            <a:endParaRPr lang="en-US" sz="670" dirty="0"/>
          </a:p>
        </p:txBody>
      </p:sp>
      <p:sp>
        <p:nvSpPr>
          <p:cNvPr id="61" name="Text 59"/>
          <p:cNvSpPr/>
          <p:nvPr/>
        </p:nvSpPr>
        <p:spPr>
          <a:xfrm>
            <a:off x="6236208" y="465429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B-42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7114032" y="4654296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Spot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7882128" y="4654296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Interlock passed</a:t>
            </a:r>
            <a:endParaRPr lang="en-US" sz="720" dirty="0"/>
          </a:p>
        </p:txBody>
      </p:sp>
      <p:sp>
        <p:nvSpPr>
          <p:cNvPr id="64" name="Shape 62"/>
          <p:cNvSpPr/>
          <p:nvPr/>
        </p:nvSpPr>
        <p:spPr>
          <a:xfrm>
            <a:off x="4992624" y="5001768"/>
            <a:ext cx="859536" cy="219456"/>
          </a:xfrm>
          <a:prstGeom prst="roundRect">
            <a:avLst>
              <a:gd name="adj" fmla="val 50000"/>
            </a:avLst>
          </a:prstGeom>
          <a:solidFill>
            <a:srgbClr val="251A3A"/>
          </a:solidFill>
          <a:ln w="12700">
            <a:solidFill>
              <a:srgbClr val="251A3A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65" name="Text 63"/>
          <p:cNvSpPr/>
          <p:nvPr/>
        </p:nvSpPr>
        <p:spPr>
          <a:xfrm>
            <a:off x="5047488" y="5029200"/>
            <a:ext cx="749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70" b="1" dirty="0">
                <a:solidFill>
                  <a:srgbClr val="A78B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ONLY</a:t>
            </a:r>
            <a:endParaRPr lang="en-US" sz="670" dirty="0"/>
          </a:p>
        </p:txBody>
      </p:sp>
      <p:sp>
        <p:nvSpPr>
          <p:cNvPr id="66" name="Text 64"/>
          <p:cNvSpPr/>
          <p:nvPr/>
        </p:nvSpPr>
        <p:spPr>
          <a:xfrm>
            <a:off x="6236208" y="500176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L-03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7114032" y="500176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Light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7882128" y="5001768"/>
            <a:ext cx="3246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94A3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repair endpoint</a:t>
            </a:r>
            <a:endParaRPr lang="en-US" sz="720" dirty="0"/>
          </a:p>
        </p:txBody>
      </p:sp>
      <p:sp>
        <p:nvSpPr>
          <p:cNvPr id="69" name="Shape 67"/>
          <p:cNvSpPr/>
          <p:nvPr/>
        </p:nvSpPr>
        <p:spPr>
          <a:xfrm>
            <a:off x="4983480" y="5330952"/>
            <a:ext cx="6309360" cy="320040"/>
          </a:xfrm>
          <a:prstGeom prst="roundRect">
            <a:avLst>
              <a:gd name="adj" fmla="val 22857"/>
            </a:avLst>
          </a:prstGeom>
          <a:solidFill>
            <a:srgbClr val="0F2F25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n-MY"/>
          </a:p>
        </p:txBody>
      </p:sp>
      <p:sp>
        <p:nvSpPr>
          <p:cNvPr id="70" name="Text 68"/>
          <p:cNvSpPr/>
          <p:nvPr/>
        </p:nvSpPr>
        <p:spPr>
          <a:xfrm>
            <a:off x="5148072" y="5404104"/>
            <a:ext cx="59801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86EFA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completed component_fixed event closes the repair lock and resolves the maintenance alert.</a:t>
            </a:r>
            <a:endParaRPr lang="en-US" sz="720" dirty="0"/>
          </a:p>
        </p:txBody>
      </p:sp>
      <p:sp>
        <p:nvSpPr>
          <p:cNvPr id="7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052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00">
                <a:solidFill>
                  <a:srgbClr val="6B7C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73" name="Picture 72">
            <a:extLst>
              <a:ext uri="{FF2B5EF4-FFF2-40B4-BE49-F238E27FC236}">
                <a16:creationId xmlns:a16="http://schemas.microsoft.com/office/drawing/2014/main" id="{C576D3DA-FBC9-9AFB-8E59-5BDC41EE737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725" t="18250" r="25075" b="18186"/>
          <a:stretch>
            <a:fillRect/>
          </a:stretch>
        </p:blipFill>
        <p:spPr>
          <a:xfrm>
            <a:off x="10206042" y="130928"/>
            <a:ext cx="1832571" cy="129139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21C8354-F957-E5F9-06FE-83805B7C0DEA}"/>
              </a:ext>
            </a:extLst>
          </p:cNvPr>
          <p:cNvSpPr txBox="1"/>
          <p:nvPr/>
        </p:nvSpPr>
        <p:spPr>
          <a:xfrm>
            <a:off x="2113935" y="2880852"/>
            <a:ext cx="81099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5400" b="1" dirty="0">
                <a:solidFill>
                  <a:schemeClr val="bg1"/>
                </a:solidFill>
              </a:rPr>
              <a:t>What makes us unique?</a:t>
            </a:r>
          </a:p>
        </p:txBody>
      </p:sp>
    </p:spTree>
    <p:extLst>
      <p:ext uri="{BB962C8B-B14F-4D97-AF65-F5344CB8AC3E}">
        <p14:creationId xmlns:p14="http://schemas.microsoft.com/office/powerpoint/2010/main" val="35691684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D1C9E1-0850-1566-2E1B-E59C4930DE7A}"/>
              </a:ext>
            </a:extLst>
          </p:cNvPr>
          <p:cNvSpPr txBox="1"/>
          <p:nvPr/>
        </p:nvSpPr>
        <p:spPr>
          <a:xfrm>
            <a:off x="3267661" y="2828835"/>
            <a:ext cx="56566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7200" b="1" dirty="0">
                <a:solidFill>
                  <a:schemeClr val="bg1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0068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1084</Words>
  <Application>Microsoft Office PowerPoint</Application>
  <PresentationFormat>Widescreen</PresentationFormat>
  <Paragraphs>232</Paragraphs>
  <Slides>14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Pretty Little Hackers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PARKMIND — Autonomous Parking at Airport Scale</dc:title>
  <dc:subject>PARKMIND Hackathon Pitch Deck</dc:subject>
  <dc:creator>Pretty Little Hackers</dc:creator>
  <cp:lastModifiedBy>GALIDEVARA PRAVIR SAI KUMAR</cp:lastModifiedBy>
  <cp:revision>7</cp:revision>
  <dcterms:created xsi:type="dcterms:W3CDTF">2026-09-20T03:43:26Z</dcterms:created>
  <dcterms:modified xsi:type="dcterms:W3CDTF">2026-09-20T04:46:55Z</dcterms:modified>
</cp:coreProperties>
</file>